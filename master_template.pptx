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75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701B65-9D87-4785-8E65-F748D9EA3CC9}">
  <a:tblStyle styleId="{0A701B65-9D87-4785-8E65-F748D9EA3CC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966" y="60"/>
      </p:cViewPr>
      <p:guideLst>
        <p:guide pos="4752"/>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 name="Google Shape;4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e7c7e4bd71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g3e7c7e4bd71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e113f38443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g3e113f38443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7c7e4bd71_3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g3e7c7e4bd71_3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e10d5022a2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e10d5022a2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e7c7e4bd71_3_10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e7c7e4bd71_3_1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e7c7e4bd71_0_4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g3e7c7e4bd71_0_4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e7c7e4bd71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g3e7c7e4bd71_0_5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e16fe3cea6_0_6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8" name="Google Shape;358;g3e16fe3cea6_0_6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e7c7e4bd71_0_4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3" name="Google Shape;373;g3e7c7e4bd71_0_4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e16fe3cea6_0_6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8" name="Google Shape;388;g3e16fe3cea6_0_6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3" name="Google Shape;40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3" name="Google Shape;45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e7c7e4bd71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2" name="Google Shape;492;g3e7c7e4bd71_0_1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3e7c7e4bd71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4" name="Google Shape;504;g3e7c7e4bd71_0_1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e7c7e4bd71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8" name="Google Shape;528;g3e7c7e4bd71_0_1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1"/>
        <p:cNvGrpSpPr/>
        <p:nvPr/>
      </p:nvGrpSpPr>
      <p:grpSpPr>
        <a:xfrm>
          <a:off x="0" y="0"/>
          <a:ext cx="0" cy="0"/>
          <a:chOff x="0" y="0"/>
          <a:chExt cx="0" cy="0"/>
        </a:xfrm>
      </p:grpSpPr>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3" name="Google Shape;13;p3"/>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6" name="Google Shape;16;p4"/>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9" name="Google Shape;19;p5"/>
          <p:cNvSpPr txBox="1">
            <a:spLocks noGrp="1"/>
          </p:cNvSpPr>
          <p:nvPr>
            <p:ph type="title"/>
          </p:nvPr>
        </p:nvSpPr>
        <p:spPr>
          <a:xfrm>
            <a:off x="4662275" y="0"/>
            <a:ext cx="4481700" cy="575700"/>
          </a:xfrm>
          <a:prstGeom prst="rect">
            <a:avLst/>
          </a:prstGeom>
          <a:solidFill>
            <a:srgbClr val="1F4690"/>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20" name="Google Shape;20;p5"/>
          <p:cNvSpPr txBox="1">
            <a:spLocks noGrp="1"/>
          </p:cNvSpPr>
          <p:nvPr>
            <p:ph type="title" idx="2"/>
          </p:nvPr>
        </p:nvSpPr>
        <p:spPr>
          <a:xfrm>
            <a:off x="0" y="0"/>
            <a:ext cx="4428300" cy="575700"/>
          </a:xfrm>
          <a:prstGeom prst="rect">
            <a:avLst/>
          </a:prstGeom>
          <a:solidFill>
            <a:srgbClr val="1F4690"/>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lnSpc>
                <a:spcPct val="100000"/>
              </a:lnSpc>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21" name="Google Shape;21;p5"/>
          <p:cNvCxnSpPr/>
          <p:nvPr/>
        </p:nvCxnSpPr>
        <p:spPr>
          <a:xfrm>
            <a:off x="4533925" y="94425"/>
            <a:ext cx="24000" cy="4852500"/>
          </a:xfrm>
          <a:prstGeom prst="straightConnector1">
            <a:avLst/>
          </a:prstGeom>
          <a:noFill/>
          <a:ln w="9525" cap="flat" cmpd="sng">
            <a:solidFill>
              <a:srgbClr val="FFA500"/>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2" name="Google Shape;32;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
        <p:cNvGrpSpPr/>
        <p:nvPr/>
      </p:nvGrpSpPr>
      <p:grpSpPr>
        <a:xfrm>
          <a:off x="0" y="0"/>
          <a:ext cx="0" cy="0"/>
          <a:chOff x="0" y="0"/>
          <a:chExt cx="0" cy="0"/>
        </a:xfrm>
      </p:grpSpPr>
      <p:sp>
        <p:nvSpPr>
          <p:cNvPr id="34" name="Google Shape;34;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6" name="Google Shape;36;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7" name="Google Shape;37;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8" name="Google Shape;3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9"/>
        <p:cNvGrpSpPr/>
        <p:nvPr/>
      </p:nvGrpSpPr>
      <p:grpSpPr>
        <a:xfrm>
          <a:off x="0" y="0"/>
          <a:ext cx="0" cy="0"/>
          <a:chOff x="0" y="0"/>
          <a:chExt cx="0" cy="0"/>
        </a:xfrm>
      </p:grpSpPr>
      <p:sp>
        <p:nvSpPr>
          <p:cNvPr id="40" name="Google Shape;40;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1" name="Google Shape;41;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
        <p:cNvGrpSpPr/>
        <p:nvPr/>
      </p:nvGrpSpPr>
      <p:grpSpPr>
        <a:xfrm>
          <a:off x="0" y="0"/>
          <a:ext cx="0" cy="0"/>
          <a:chOff x="0" y="0"/>
          <a:chExt cx="0" cy="0"/>
        </a:xfrm>
      </p:grpSpPr>
      <p:sp>
        <p:nvSpPr>
          <p:cNvPr id="43" name="Google Shape;43;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4" name="Google Shape;44;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marR="0" lvl="0" indent="-342900" algn="l">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2"/>
          <p:cNvSpPr/>
          <p:nvPr/>
        </p:nvSpPr>
        <p:spPr>
          <a:xfrm>
            <a:off x="0" y="0"/>
            <a:ext cx="9144000" cy="11112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2"/>
          <p:cNvSpPr/>
          <p:nvPr/>
        </p:nvSpPr>
        <p:spPr>
          <a:xfrm>
            <a:off x="83850" y="96450"/>
            <a:ext cx="75405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800" b="1">
                <a:solidFill>
                  <a:srgbClr val="FFFFFF"/>
                </a:solidFill>
                <a:latin typeface="Calibri"/>
                <a:ea typeface="Calibri"/>
                <a:cs typeface="Calibri"/>
                <a:sym typeface="Calibri"/>
              </a:rPr>
              <a:t>{{company_name}}</a:t>
            </a:r>
            <a:endParaRPr sz="1800" b="1">
              <a:solidFill>
                <a:srgbClr val="FFFFFF"/>
              </a:solidFill>
              <a:latin typeface="Calibri"/>
              <a:ea typeface="Calibri"/>
              <a:cs typeface="Calibri"/>
              <a:sym typeface="Calibri"/>
            </a:endParaRPr>
          </a:p>
        </p:txBody>
      </p:sp>
      <p:sp>
        <p:nvSpPr>
          <p:cNvPr id="52" name="Google Shape;52;p12"/>
          <p:cNvSpPr/>
          <p:nvPr/>
        </p:nvSpPr>
        <p:spPr>
          <a:xfrm>
            <a:off x="0" y="1117613"/>
            <a:ext cx="9144000" cy="3408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 name="Google Shape;53;p12"/>
          <p:cNvPicPr preferRelativeResize="0"/>
          <p:nvPr/>
        </p:nvPicPr>
        <p:blipFill rotWithShape="1">
          <a:blip r:embed="rId3">
            <a:alphaModFix/>
          </a:blip>
          <a:srcRect t="14027" b="13410"/>
          <a:stretch/>
        </p:blipFill>
        <p:spPr>
          <a:xfrm>
            <a:off x="7678425" y="70750"/>
            <a:ext cx="1393705" cy="340750"/>
          </a:xfrm>
          <a:prstGeom prst="rect">
            <a:avLst/>
          </a:prstGeom>
          <a:noFill/>
          <a:ln>
            <a:noFill/>
          </a:ln>
        </p:spPr>
      </p:pic>
      <p:sp>
        <p:nvSpPr>
          <p:cNvPr id="54" name="Google Shape;54;p12"/>
          <p:cNvSpPr/>
          <p:nvPr/>
        </p:nvSpPr>
        <p:spPr>
          <a:xfrm>
            <a:off x="1184850" y="529301"/>
            <a:ext cx="10050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55" name="Google Shape;55;p12"/>
          <p:cNvSpPr/>
          <p:nvPr/>
        </p:nvSpPr>
        <p:spPr>
          <a:xfrm>
            <a:off x="1264554"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b="0" i="0" u="none" strike="noStrike" cap="none">
                <a:solidFill>
                  <a:srgbClr val="64748B"/>
                </a:solidFill>
                <a:latin typeface="Calibri"/>
                <a:ea typeface="Calibri"/>
                <a:cs typeface="Calibri"/>
                <a:sym typeface="Calibri"/>
              </a:rPr>
              <a:t>CMP</a:t>
            </a:r>
            <a:endParaRPr sz="800" b="0" i="0" u="none" strike="noStrike" cap="none">
              <a:solidFill>
                <a:srgbClr val="000000"/>
              </a:solidFill>
              <a:latin typeface="Calibri"/>
              <a:ea typeface="Calibri"/>
              <a:cs typeface="Calibri"/>
              <a:sym typeface="Calibri"/>
            </a:endParaRPr>
          </a:p>
        </p:txBody>
      </p:sp>
      <p:sp>
        <p:nvSpPr>
          <p:cNvPr id="56" name="Google Shape;56;p12"/>
          <p:cNvSpPr/>
          <p:nvPr/>
        </p:nvSpPr>
        <p:spPr>
          <a:xfrm>
            <a:off x="1238453"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319"/>
              <a:buFont typeface="Calibri"/>
              <a:buNone/>
            </a:pPr>
            <a:r>
              <a:rPr lang="en-GB" sz="1219" b="1">
                <a:solidFill>
                  <a:srgbClr val="1F4690"/>
                </a:solidFill>
                <a:latin typeface="Calibri"/>
                <a:ea typeface="Calibri"/>
                <a:cs typeface="Calibri"/>
                <a:sym typeface="Calibri"/>
              </a:rPr>
              <a:t>{{cmp}}</a:t>
            </a:r>
            <a:endParaRPr sz="1219" b="0" i="0" u="none" strike="noStrike" cap="none">
              <a:solidFill>
                <a:srgbClr val="000000"/>
              </a:solidFill>
              <a:latin typeface="Calibri"/>
              <a:ea typeface="Calibri"/>
              <a:cs typeface="Calibri"/>
              <a:sym typeface="Calibri"/>
            </a:endParaRPr>
          </a:p>
        </p:txBody>
      </p:sp>
      <p:sp>
        <p:nvSpPr>
          <p:cNvPr id="57" name="Google Shape;57;p12"/>
          <p:cNvSpPr/>
          <p:nvPr/>
        </p:nvSpPr>
        <p:spPr>
          <a:xfrm>
            <a:off x="2270315" y="529301"/>
            <a:ext cx="1005000" cy="497400"/>
          </a:xfrm>
          <a:prstGeom prst="rect">
            <a:avLst/>
          </a:prstGeom>
          <a:solidFill>
            <a:srgbClr val="DCFCE7"/>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58" name="Google Shape;58;p12"/>
          <p:cNvSpPr/>
          <p:nvPr/>
        </p:nvSpPr>
        <p:spPr>
          <a:xfrm>
            <a:off x="2350019"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b="0" i="0" u="none" strike="noStrike" cap="none">
                <a:solidFill>
                  <a:srgbClr val="64748B"/>
                </a:solidFill>
                <a:latin typeface="Calibri"/>
                <a:ea typeface="Calibri"/>
                <a:cs typeface="Calibri"/>
                <a:sym typeface="Calibri"/>
              </a:rPr>
              <a:t>Target Price</a:t>
            </a:r>
            <a:endParaRPr sz="800" b="0" i="0" u="none" strike="noStrike" cap="none">
              <a:solidFill>
                <a:srgbClr val="000000"/>
              </a:solidFill>
              <a:latin typeface="Calibri"/>
              <a:ea typeface="Calibri"/>
              <a:cs typeface="Calibri"/>
              <a:sym typeface="Calibri"/>
            </a:endParaRPr>
          </a:p>
        </p:txBody>
      </p:sp>
      <p:sp>
        <p:nvSpPr>
          <p:cNvPr id="59" name="Google Shape;59;p12"/>
          <p:cNvSpPr/>
          <p:nvPr/>
        </p:nvSpPr>
        <p:spPr>
          <a:xfrm>
            <a:off x="2323918"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A34A"/>
              </a:buClr>
              <a:buSzPts val="1319"/>
              <a:buFont typeface="Calibri"/>
              <a:buNone/>
            </a:pPr>
            <a:r>
              <a:rPr lang="en-GB" sz="1219" b="1">
                <a:solidFill>
                  <a:srgbClr val="16A34A"/>
                </a:solidFill>
                <a:latin typeface="Calibri"/>
                <a:ea typeface="Calibri"/>
                <a:cs typeface="Calibri"/>
                <a:sym typeface="Calibri"/>
              </a:rPr>
              <a:t>{{target}}</a:t>
            </a:r>
            <a:endParaRPr sz="1219" b="0" i="0" u="none" strike="noStrike" cap="none">
              <a:solidFill>
                <a:srgbClr val="000000"/>
              </a:solidFill>
              <a:latin typeface="Calibri"/>
              <a:ea typeface="Calibri"/>
              <a:cs typeface="Calibri"/>
              <a:sym typeface="Calibri"/>
            </a:endParaRPr>
          </a:p>
        </p:txBody>
      </p:sp>
      <p:sp>
        <p:nvSpPr>
          <p:cNvPr id="60" name="Google Shape;60;p12"/>
          <p:cNvSpPr/>
          <p:nvPr/>
        </p:nvSpPr>
        <p:spPr>
          <a:xfrm>
            <a:off x="5526736" y="529300"/>
            <a:ext cx="13824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61" name="Google Shape;61;p12"/>
          <p:cNvSpPr/>
          <p:nvPr/>
        </p:nvSpPr>
        <p:spPr>
          <a:xfrm>
            <a:off x="5631600" y="572550"/>
            <a:ext cx="1197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 Category</a:t>
            </a:r>
            <a:endParaRPr sz="800" b="0" i="0" u="none" strike="noStrike" cap="none">
              <a:solidFill>
                <a:srgbClr val="000000"/>
              </a:solidFill>
              <a:latin typeface="Calibri"/>
              <a:ea typeface="Calibri"/>
              <a:cs typeface="Calibri"/>
              <a:sym typeface="Calibri"/>
            </a:endParaRPr>
          </a:p>
        </p:txBody>
      </p:sp>
      <p:sp>
        <p:nvSpPr>
          <p:cNvPr id="62" name="Google Shape;62;p12"/>
          <p:cNvSpPr/>
          <p:nvPr/>
        </p:nvSpPr>
        <p:spPr>
          <a:xfrm>
            <a:off x="5600467" y="706074"/>
            <a:ext cx="1244100" cy="216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4690"/>
              </a:buClr>
              <a:buSzPts val="1800"/>
              <a:buFont typeface="Calibri"/>
              <a:buNone/>
            </a:pPr>
            <a:r>
              <a:rPr lang="en-GB" sz="1200" b="1">
                <a:solidFill>
                  <a:srgbClr val="1F4690"/>
                </a:solidFill>
                <a:latin typeface="Calibri"/>
                <a:ea typeface="Calibri"/>
                <a:cs typeface="Calibri"/>
                <a:sym typeface="Calibri"/>
              </a:rPr>
              <a:t>{{m_category}}</a:t>
            </a:r>
            <a:endParaRPr sz="1200" b="1">
              <a:solidFill>
                <a:srgbClr val="1F4690"/>
              </a:solidFill>
              <a:latin typeface="Calibri"/>
              <a:ea typeface="Calibri"/>
              <a:cs typeface="Calibri"/>
              <a:sym typeface="Calibri"/>
            </a:endParaRPr>
          </a:p>
        </p:txBody>
      </p:sp>
      <p:sp>
        <p:nvSpPr>
          <p:cNvPr id="63" name="Google Shape;63;p12"/>
          <p:cNvSpPr/>
          <p:nvPr/>
        </p:nvSpPr>
        <p:spPr>
          <a:xfrm>
            <a:off x="4441269" y="529301"/>
            <a:ext cx="10050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64" name="Google Shape;64;p12"/>
          <p:cNvSpPr/>
          <p:nvPr/>
        </p:nvSpPr>
        <p:spPr>
          <a:xfrm>
            <a:off x="4520973"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Market Cap</a:t>
            </a:r>
            <a:endParaRPr sz="800" b="0" i="0" u="none" strike="noStrike" cap="none">
              <a:solidFill>
                <a:srgbClr val="000000"/>
              </a:solidFill>
              <a:latin typeface="Calibri"/>
              <a:ea typeface="Calibri"/>
              <a:cs typeface="Calibri"/>
              <a:sym typeface="Calibri"/>
            </a:endParaRPr>
          </a:p>
        </p:txBody>
      </p:sp>
      <p:sp>
        <p:nvSpPr>
          <p:cNvPr id="65" name="Google Shape;65;p12"/>
          <p:cNvSpPr/>
          <p:nvPr/>
        </p:nvSpPr>
        <p:spPr>
          <a:xfrm>
            <a:off x="4494872"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319"/>
              <a:buFont typeface="Calibri"/>
              <a:buNone/>
            </a:pPr>
            <a:r>
              <a:rPr lang="en-GB" sz="1219" b="1">
                <a:solidFill>
                  <a:srgbClr val="1F4690"/>
                </a:solidFill>
                <a:latin typeface="Calibri"/>
                <a:ea typeface="Calibri"/>
                <a:cs typeface="Calibri"/>
                <a:sym typeface="Calibri"/>
              </a:rPr>
              <a:t>{{m_cap}}</a:t>
            </a:r>
            <a:endParaRPr sz="1219" b="0" i="0" u="none" strike="noStrike" cap="none">
              <a:solidFill>
                <a:srgbClr val="000000"/>
              </a:solidFill>
              <a:latin typeface="Calibri"/>
              <a:ea typeface="Calibri"/>
              <a:cs typeface="Calibri"/>
              <a:sym typeface="Calibri"/>
            </a:endParaRPr>
          </a:p>
        </p:txBody>
      </p:sp>
      <p:sp>
        <p:nvSpPr>
          <p:cNvPr id="66" name="Google Shape;66;p12"/>
          <p:cNvSpPr/>
          <p:nvPr/>
        </p:nvSpPr>
        <p:spPr>
          <a:xfrm>
            <a:off x="6989609" y="529301"/>
            <a:ext cx="10050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67" name="Google Shape;67;p12"/>
          <p:cNvSpPr/>
          <p:nvPr/>
        </p:nvSpPr>
        <p:spPr>
          <a:xfrm>
            <a:off x="7069313"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SAARTHI Score</a:t>
            </a:r>
            <a:endParaRPr sz="800" b="0" i="0" u="none" strike="noStrike" cap="none">
              <a:solidFill>
                <a:srgbClr val="000000"/>
              </a:solidFill>
              <a:latin typeface="Calibri"/>
              <a:ea typeface="Calibri"/>
              <a:cs typeface="Calibri"/>
              <a:sym typeface="Calibri"/>
            </a:endParaRPr>
          </a:p>
        </p:txBody>
      </p:sp>
      <p:sp>
        <p:nvSpPr>
          <p:cNvPr id="68" name="Google Shape;68;p12"/>
          <p:cNvSpPr/>
          <p:nvPr/>
        </p:nvSpPr>
        <p:spPr>
          <a:xfrm>
            <a:off x="7043212"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7706"/>
              </a:buClr>
              <a:buSzPts val="1319"/>
              <a:buFont typeface="Calibri"/>
              <a:buNone/>
            </a:pPr>
            <a:r>
              <a:rPr lang="en-GB" sz="1219" b="1">
                <a:solidFill>
                  <a:srgbClr val="1F4690"/>
                </a:solidFill>
                <a:latin typeface="Calibri"/>
                <a:ea typeface="Calibri"/>
                <a:cs typeface="Calibri"/>
                <a:sym typeface="Calibri"/>
              </a:rPr>
              <a:t>{{saarthi_s}}</a:t>
            </a:r>
            <a:endParaRPr sz="1219" b="0" i="0" u="none" strike="noStrike" cap="none">
              <a:solidFill>
                <a:srgbClr val="1F4690"/>
              </a:solidFill>
              <a:latin typeface="Calibri"/>
              <a:ea typeface="Calibri"/>
              <a:cs typeface="Calibri"/>
              <a:sym typeface="Calibri"/>
            </a:endParaRPr>
          </a:p>
        </p:txBody>
      </p:sp>
      <p:sp>
        <p:nvSpPr>
          <p:cNvPr id="69" name="Google Shape;69;p12"/>
          <p:cNvSpPr/>
          <p:nvPr/>
        </p:nvSpPr>
        <p:spPr>
          <a:xfrm>
            <a:off x="99375" y="529301"/>
            <a:ext cx="10050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70" name="Google Shape;70;p12"/>
          <p:cNvSpPr/>
          <p:nvPr/>
        </p:nvSpPr>
        <p:spPr>
          <a:xfrm>
            <a:off x="179079"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NSE</a:t>
            </a:r>
            <a:endParaRPr sz="800" b="0" i="0" u="none" strike="noStrike" cap="none">
              <a:solidFill>
                <a:srgbClr val="000000"/>
              </a:solidFill>
              <a:latin typeface="Calibri"/>
              <a:ea typeface="Calibri"/>
              <a:cs typeface="Calibri"/>
              <a:sym typeface="Calibri"/>
            </a:endParaRPr>
          </a:p>
        </p:txBody>
      </p:sp>
      <p:sp>
        <p:nvSpPr>
          <p:cNvPr id="71" name="Google Shape;71;p12"/>
          <p:cNvSpPr/>
          <p:nvPr/>
        </p:nvSpPr>
        <p:spPr>
          <a:xfrm>
            <a:off x="152978"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319"/>
              <a:buFont typeface="Calibri"/>
              <a:buNone/>
            </a:pPr>
            <a:r>
              <a:rPr lang="en-GB" sz="1219" b="1">
                <a:solidFill>
                  <a:srgbClr val="1F4690"/>
                </a:solidFill>
                <a:latin typeface="Calibri"/>
                <a:ea typeface="Calibri"/>
                <a:cs typeface="Calibri"/>
                <a:sym typeface="Calibri"/>
              </a:rPr>
              <a:t>{{nse_code}}</a:t>
            </a:r>
            <a:endParaRPr sz="1219" b="0" i="0" u="none" strike="noStrike" cap="none">
              <a:solidFill>
                <a:srgbClr val="000000"/>
              </a:solidFill>
              <a:latin typeface="Calibri"/>
              <a:ea typeface="Calibri"/>
              <a:cs typeface="Calibri"/>
              <a:sym typeface="Calibri"/>
            </a:endParaRPr>
          </a:p>
        </p:txBody>
      </p:sp>
      <p:sp>
        <p:nvSpPr>
          <p:cNvPr id="72" name="Google Shape;72;p12"/>
          <p:cNvSpPr/>
          <p:nvPr/>
        </p:nvSpPr>
        <p:spPr>
          <a:xfrm>
            <a:off x="103000" y="1150346"/>
            <a:ext cx="88872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FFFFFF"/>
                </a:solidFill>
                <a:latin typeface="Calibri"/>
                <a:ea typeface="Calibri"/>
                <a:cs typeface="Calibri"/>
                <a:sym typeface="Calibri"/>
              </a:rPr>
              <a:t>{{tagline}}</a:t>
            </a:r>
            <a:endParaRPr sz="1200" b="1">
              <a:solidFill>
                <a:srgbClr val="FFFFFF"/>
              </a:solidFill>
              <a:latin typeface="Calibri"/>
              <a:ea typeface="Calibri"/>
              <a:cs typeface="Calibri"/>
              <a:sym typeface="Calibri"/>
            </a:endParaRPr>
          </a:p>
        </p:txBody>
      </p:sp>
      <p:sp>
        <p:nvSpPr>
          <p:cNvPr id="73" name="Google Shape;73;p12"/>
          <p:cNvSpPr/>
          <p:nvPr/>
        </p:nvSpPr>
        <p:spPr>
          <a:xfrm>
            <a:off x="79445" y="1541950"/>
            <a:ext cx="5312400" cy="1415400"/>
          </a:xfrm>
          <a:prstGeom prst="rect">
            <a:avLst/>
          </a:prstGeom>
          <a:solidFill>
            <a:srgbClr val="FFE5B4"/>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74" name="Google Shape;74;p12"/>
          <p:cNvSpPr/>
          <p:nvPr/>
        </p:nvSpPr>
        <p:spPr>
          <a:xfrm>
            <a:off x="141705" y="1600400"/>
            <a:ext cx="5187000" cy="13038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{{investment_thesis_s1}}</a:t>
            </a:r>
            <a:endParaRPr sz="800">
              <a:solidFill>
                <a:schemeClr val="dk1"/>
              </a:solidFill>
              <a:latin typeface="Calibri"/>
              <a:ea typeface="Calibri"/>
              <a:cs typeface="Calibri"/>
              <a:sym typeface="Calibri"/>
            </a:endParaRPr>
          </a:p>
        </p:txBody>
      </p:sp>
      <p:sp>
        <p:nvSpPr>
          <p:cNvPr id="75" name="Google Shape;75;p12"/>
          <p:cNvSpPr/>
          <p:nvPr/>
        </p:nvSpPr>
        <p:spPr>
          <a:xfrm>
            <a:off x="79435" y="3037782"/>
            <a:ext cx="2633100" cy="901800"/>
          </a:xfrm>
          <a:prstGeom prst="rect">
            <a:avLst/>
          </a:prstGeom>
          <a:solidFill>
            <a:schemeClr val="lt1"/>
          </a:solidFill>
          <a:ln w="2857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76" name="Google Shape;76;p12"/>
          <p:cNvSpPr/>
          <p:nvPr/>
        </p:nvSpPr>
        <p:spPr>
          <a:xfrm>
            <a:off x="110321" y="3077858"/>
            <a:ext cx="2571900" cy="818400"/>
          </a:xfrm>
          <a:prstGeom prst="rect">
            <a:avLst/>
          </a:prstGeom>
          <a:noFill/>
          <a:ln w="28575" cap="flat" cmpd="sng">
            <a:solidFill>
              <a:schemeClr val="lt1"/>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{{investment_ideas_1}}</a:t>
            </a:r>
            <a:endParaRPr sz="800">
              <a:solidFill>
                <a:schemeClr val="dk1"/>
              </a:solidFill>
              <a:latin typeface="Calibri"/>
              <a:ea typeface="Calibri"/>
              <a:cs typeface="Calibri"/>
              <a:sym typeface="Calibri"/>
            </a:endParaRPr>
          </a:p>
        </p:txBody>
      </p:sp>
      <p:sp>
        <p:nvSpPr>
          <p:cNvPr id="77" name="Google Shape;77;p12"/>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78;p12"/>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dirty="0">
                <a:solidFill>
                  <a:srgbClr val="FFFFFF"/>
                </a:solidFill>
                <a:latin typeface="Calibri"/>
                <a:ea typeface="Calibri"/>
                <a:cs typeface="Calibri"/>
                <a:sym typeface="Calibri"/>
              </a:rPr>
              <a:t>TIKONA CAPITAL | </a:t>
            </a:r>
            <a:r>
              <a:rPr lang="en-GB" sz="800" b="0" i="0" u="none" strike="noStrike" cap="none" dirty="0">
                <a:solidFill>
                  <a:srgbClr val="FFFFFF"/>
                </a:solidFill>
                <a:latin typeface="Calibri"/>
                <a:ea typeface="Calibri"/>
                <a:cs typeface="Calibri"/>
                <a:sym typeface="Calibri"/>
              </a:rPr>
              <a:t>SEBI Reg. INH000009807                                                                                                                                                                                                                                                          </a:t>
            </a:r>
            <a:endParaRPr sz="800" b="0" i="0" u="none" strike="noStrike" cap="none" dirty="0">
              <a:solidFill>
                <a:srgbClr val="000000"/>
              </a:solidFill>
              <a:latin typeface="Calibri"/>
              <a:ea typeface="Calibri"/>
              <a:cs typeface="Calibri"/>
              <a:sym typeface="Calibri"/>
            </a:endParaRPr>
          </a:p>
        </p:txBody>
      </p:sp>
      <p:sp>
        <p:nvSpPr>
          <p:cNvPr id="79" name="Google Shape;79;p12"/>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endParaRPr sz="800" b="0" i="0" u="none" strike="noStrike" cap="none" dirty="0">
              <a:solidFill>
                <a:srgbClr val="000000"/>
              </a:solidFill>
              <a:latin typeface="Calibri"/>
              <a:ea typeface="Calibri"/>
              <a:cs typeface="Calibri"/>
              <a:sym typeface="Calibri"/>
            </a:endParaRPr>
          </a:p>
        </p:txBody>
      </p:sp>
      <p:sp>
        <p:nvSpPr>
          <p:cNvPr id="80" name="Google Shape;80;p12"/>
          <p:cNvSpPr/>
          <p:nvPr/>
        </p:nvSpPr>
        <p:spPr>
          <a:xfrm>
            <a:off x="5477925" y="1541950"/>
            <a:ext cx="3594300" cy="3335100"/>
          </a:xfrm>
          <a:prstGeom prst="rect">
            <a:avLst/>
          </a:prstGeom>
          <a:solidFill>
            <a:srgbClr val="D1D5DB"/>
          </a:solidFill>
          <a:ln w="9525"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{{financial_summary_image}}</a:t>
            </a:r>
            <a:endParaRPr sz="800"/>
          </a:p>
        </p:txBody>
      </p:sp>
      <p:sp>
        <p:nvSpPr>
          <p:cNvPr id="81" name="Google Shape;81;p12"/>
          <p:cNvSpPr/>
          <p:nvPr/>
        </p:nvSpPr>
        <p:spPr>
          <a:xfrm>
            <a:off x="2768708" y="3040882"/>
            <a:ext cx="2633100" cy="901800"/>
          </a:xfrm>
          <a:prstGeom prst="rect">
            <a:avLst/>
          </a:prstGeom>
          <a:solidFill>
            <a:schemeClr val="lt1"/>
          </a:solidFill>
          <a:ln w="2857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82" name="Google Shape;82;p12"/>
          <p:cNvSpPr/>
          <p:nvPr/>
        </p:nvSpPr>
        <p:spPr>
          <a:xfrm>
            <a:off x="2799595" y="3080958"/>
            <a:ext cx="2571900" cy="818400"/>
          </a:xfrm>
          <a:prstGeom prst="rect">
            <a:avLst/>
          </a:prstGeom>
          <a:noFill/>
          <a:ln w="28575" cap="flat" cmpd="sng">
            <a:solidFill>
              <a:schemeClr val="lt1"/>
            </a:solidFill>
            <a:prstDash val="solid"/>
            <a:round/>
            <a:headEnd type="none" w="sm" len="sm"/>
            <a:tailEnd type="none" w="sm" len="sm"/>
          </a:ln>
        </p:spPr>
        <p:txBody>
          <a:bodyPr spcFirstLastPara="1" wrap="square" lIns="45700" tIns="45700" rIns="45700" bIns="45700" anchor="t" anchorCtr="0">
            <a:noAutofit/>
          </a:bodyPr>
          <a:lstStyle/>
          <a:p>
            <a:pPr marL="0" lvl="0" indent="0" algn="just" rtl="0">
              <a:spcBef>
                <a:spcPts val="0"/>
              </a:spcBef>
              <a:spcAft>
                <a:spcPts val="0"/>
              </a:spcAft>
              <a:buClr>
                <a:schemeClr val="lt1"/>
              </a:buClr>
              <a:buSzPts val="1400"/>
              <a:buFont typeface="Calibri"/>
              <a:buNone/>
            </a:pPr>
            <a:r>
              <a:rPr lang="en-GB" sz="800">
                <a:solidFill>
                  <a:schemeClr val="dk1"/>
                </a:solidFill>
                <a:latin typeface="Calibri"/>
                <a:ea typeface="Calibri"/>
                <a:cs typeface="Calibri"/>
                <a:sym typeface="Calibri"/>
              </a:rPr>
              <a:t>{{investment_ideas_2}}</a:t>
            </a:r>
            <a:endParaRPr sz="800">
              <a:solidFill>
                <a:schemeClr val="dk1"/>
              </a:solidFill>
              <a:latin typeface="Calibri"/>
              <a:ea typeface="Calibri"/>
              <a:cs typeface="Calibri"/>
              <a:sym typeface="Calibri"/>
            </a:endParaRPr>
          </a:p>
        </p:txBody>
      </p:sp>
      <p:sp>
        <p:nvSpPr>
          <p:cNvPr id="83" name="Google Shape;83;p12"/>
          <p:cNvSpPr/>
          <p:nvPr/>
        </p:nvSpPr>
        <p:spPr>
          <a:xfrm>
            <a:off x="77070" y="3996925"/>
            <a:ext cx="2633100" cy="901800"/>
          </a:xfrm>
          <a:prstGeom prst="rect">
            <a:avLst/>
          </a:prstGeom>
          <a:solidFill>
            <a:schemeClr val="lt1"/>
          </a:solidFill>
          <a:ln w="2857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84" name="Google Shape;84;p12"/>
          <p:cNvSpPr/>
          <p:nvPr/>
        </p:nvSpPr>
        <p:spPr>
          <a:xfrm>
            <a:off x="107712" y="4043126"/>
            <a:ext cx="2571900" cy="818400"/>
          </a:xfrm>
          <a:prstGeom prst="rect">
            <a:avLst/>
          </a:prstGeom>
          <a:noFill/>
          <a:ln w="28575" cap="flat" cmpd="sng">
            <a:solidFill>
              <a:schemeClr val="lt1"/>
            </a:solidFill>
            <a:prstDash val="solid"/>
            <a:round/>
            <a:headEnd type="none" w="sm" len="sm"/>
            <a:tailEnd type="none" w="sm" len="sm"/>
          </a:ln>
        </p:spPr>
        <p:txBody>
          <a:bodyPr spcFirstLastPara="1" wrap="square" lIns="45700" tIns="45700" rIns="45700" bIns="45700" anchor="t" anchorCtr="0">
            <a:noAutofit/>
          </a:bodyPr>
          <a:lstStyle/>
          <a:p>
            <a:pPr marL="0" lvl="0" indent="0" algn="just" rtl="0">
              <a:spcBef>
                <a:spcPts val="0"/>
              </a:spcBef>
              <a:spcAft>
                <a:spcPts val="0"/>
              </a:spcAft>
              <a:buClr>
                <a:schemeClr val="lt1"/>
              </a:buClr>
              <a:buSzPts val="1400"/>
              <a:buFont typeface="Calibri"/>
              <a:buNone/>
            </a:pPr>
            <a:r>
              <a:rPr lang="en-GB" sz="800">
                <a:solidFill>
                  <a:schemeClr val="dk1"/>
                </a:solidFill>
                <a:latin typeface="Calibri"/>
                <a:ea typeface="Calibri"/>
                <a:cs typeface="Calibri"/>
                <a:sym typeface="Calibri"/>
              </a:rPr>
              <a:t>{{investment_ideas_3}}</a:t>
            </a:r>
            <a:endParaRPr sz="800">
              <a:solidFill>
                <a:schemeClr val="dk1"/>
              </a:solidFill>
              <a:latin typeface="Calibri"/>
              <a:ea typeface="Calibri"/>
              <a:cs typeface="Calibri"/>
              <a:sym typeface="Calibri"/>
            </a:endParaRPr>
          </a:p>
        </p:txBody>
      </p:sp>
      <p:sp>
        <p:nvSpPr>
          <p:cNvPr id="85" name="Google Shape;85;p12"/>
          <p:cNvSpPr/>
          <p:nvPr/>
        </p:nvSpPr>
        <p:spPr>
          <a:xfrm>
            <a:off x="2766344" y="4000025"/>
            <a:ext cx="2633100" cy="901800"/>
          </a:xfrm>
          <a:prstGeom prst="rect">
            <a:avLst/>
          </a:prstGeom>
          <a:solidFill>
            <a:schemeClr val="lt1"/>
          </a:solidFill>
          <a:ln w="2857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86" name="Google Shape;86;p12"/>
          <p:cNvSpPr/>
          <p:nvPr/>
        </p:nvSpPr>
        <p:spPr>
          <a:xfrm>
            <a:off x="2801986" y="4040162"/>
            <a:ext cx="2571900" cy="818400"/>
          </a:xfrm>
          <a:prstGeom prst="rect">
            <a:avLst/>
          </a:prstGeom>
          <a:noFill/>
          <a:ln w="28575" cap="flat" cmpd="sng">
            <a:solidFill>
              <a:schemeClr val="lt1"/>
            </a:solidFill>
            <a:prstDash val="solid"/>
            <a:round/>
            <a:headEnd type="none" w="sm" len="sm"/>
            <a:tailEnd type="none" w="sm" len="sm"/>
          </a:ln>
        </p:spPr>
        <p:txBody>
          <a:bodyPr spcFirstLastPara="1" wrap="square" lIns="45700" tIns="45700" rIns="45700" bIns="45700" anchor="t" anchorCtr="0">
            <a:noAutofit/>
          </a:bodyPr>
          <a:lstStyle/>
          <a:p>
            <a:pPr marL="0" lvl="0" indent="0" algn="just" rtl="0">
              <a:spcBef>
                <a:spcPts val="0"/>
              </a:spcBef>
              <a:spcAft>
                <a:spcPts val="0"/>
              </a:spcAft>
              <a:buClr>
                <a:schemeClr val="lt1"/>
              </a:buClr>
              <a:buSzPts val="1400"/>
              <a:buFont typeface="Calibri"/>
              <a:buNone/>
            </a:pPr>
            <a:r>
              <a:rPr lang="en-GB" sz="800">
                <a:solidFill>
                  <a:schemeClr val="dk1"/>
                </a:solidFill>
                <a:latin typeface="Calibri"/>
                <a:ea typeface="Calibri"/>
                <a:cs typeface="Calibri"/>
                <a:sym typeface="Calibri"/>
              </a:rPr>
              <a:t>{{investment_ideas_4}}</a:t>
            </a:r>
            <a:endParaRPr sz="800">
              <a:solidFill>
                <a:schemeClr val="dk1"/>
              </a:solidFill>
              <a:latin typeface="Calibri"/>
              <a:ea typeface="Calibri"/>
              <a:cs typeface="Calibri"/>
              <a:sym typeface="Calibri"/>
            </a:endParaRPr>
          </a:p>
        </p:txBody>
      </p:sp>
      <p:sp>
        <p:nvSpPr>
          <p:cNvPr id="88" name="Google Shape;88;p12"/>
          <p:cNvSpPr/>
          <p:nvPr/>
        </p:nvSpPr>
        <p:spPr>
          <a:xfrm>
            <a:off x="3355800" y="529301"/>
            <a:ext cx="10050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89" name="Google Shape;89;p12"/>
          <p:cNvSpPr/>
          <p:nvPr/>
        </p:nvSpPr>
        <p:spPr>
          <a:xfrm>
            <a:off x="3435504"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Upside</a:t>
            </a:r>
            <a:endParaRPr sz="800" b="0" i="0" u="none" strike="noStrike" cap="none">
              <a:solidFill>
                <a:srgbClr val="000000"/>
              </a:solidFill>
              <a:latin typeface="Calibri"/>
              <a:ea typeface="Calibri"/>
              <a:cs typeface="Calibri"/>
              <a:sym typeface="Calibri"/>
            </a:endParaRPr>
          </a:p>
        </p:txBody>
      </p:sp>
      <p:sp>
        <p:nvSpPr>
          <p:cNvPr id="90" name="Google Shape;90;p12"/>
          <p:cNvSpPr/>
          <p:nvPr/>
        </p:nvSpPr>
        <p:spPr>
          <a:xfrm>
            <a:off x="3409403"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319"/>
              <a:buFont typeface="Calibri"/>
              <a:buNone/>
            </a:pPr>
            <a:r>
              <a:rPr lang="en-GB" sz="1219" b="1">
                <a:solidFill>
                  <a:srgbClr val="1F4690"/>
                </a:solidFill>
                <a:latin typeface="Calibri"/>
                <a:ea typeface="Calibri"/>
                <a:cs typeface="Calibri"/>
                <a:sym typeface="Calibri"/>
              </a:rPr>
              <a:t>{{upside}}</a:t>
            </a:r>
            <a:endParaRPr sz="1219" b="0" i="0" u="none" strike="noStrike" cap="none">
              <a:solidFill>
                <a:srgbClr val="000000"/>
              </a:solidFill>
              <a:latin typeface="Calibri"/>
              <a:ea typeface="Calibri"/>
              <a:cs typeface="Calibri"/>
              <a:sym typeface="Calibri"/>
            </a:endParaRPr>
          </a:p>
        </p:txBody>
      </p:sp>
      <p:sp>
        <p:nvSpPr>
          <p:cNvPr id="91" name="Google Shape;91;p12"/>
          <p:cNvSpPr/>
          <p:nvPr/>
        </p:nvSpPr>
        <p:spPr>
          <a:xfrm>
            <a:off x="8075075" y="529301"/>
            <a:ext cx="1005000" cy="497400"/>
          </a:xfrm>
          <a:prstGeom prst="rect">
            <a:avLst/>
          </a:prstGeom>
          <a:solidFill>
            <a:srgbClr val="FFE5B4"/>
          </a:solidFill>
          <a:ln w="6975" cap="flat" cmpd="sng">
            <a:solidFill>
              <a:srgbClr val="D1D5DB"/>
            </a:solidFill>
            <a:prstDash val="solid"/>
            <a:round/>
            <a:headEnd type="none" w="sm" len="sm"/>
            <a:tailEnd type="none" w="sm" len="sm"/>
          </a:ln>
          <a:effectLst>
            <a:outerShdw blurRad="74449" dist="18612" dir="8100000" algn="bl" rotWithShape="0">
              <a:srgbClr val="000000">
                <a:alpha val="10200"/>
              </a:srgbClr>
            </a:outerShdw>
          </a:effectLst>
        </p:spPr>
        <p:txBody>
          <a:bodyPr spcFirstLastPara="1" wrap="square" lIns="67000" tIns="67000" rIns="67000" bIns="67000" anchor="ctr" anchorCtr="0">
            <a:noAutofit/>
          </a:bodyPr>
          <a:lstStyle/>
          <a:p>
            <a:pPr marL="0" lvl="0" indent="0" algn="l" rtl="0">
              <a:spcBef>
                <a:spcPts val="0"/>
              </a:spcBef>
              <a:spcAft>
                <a:spcPts val="0"/>
              </a:spcAft>
              <a:buNone/>
            </a:pPr>
            <a:endParaRPr/>
          </a:p>
        </p:txBody>
      </p:sp>
      <p:sp>
        <p:nvSpPr>
          <p:cNvPr id="92" name="Google Shape;92;p12"/>
          <p:cNvSpPr/>
          <p:nvPr/>
        </p:nvSpPr>
        <p:spPr>
          <a:xfrm>
            <a:off x="8154779" y="572550"/>
            <a:ext cx="870900" cy="1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586"/>
              <a:buFont typeface="Calibri"/>
              <a:buNone/>
            </a:pPr>
            <a:r>
              <a:rPr lang="en-GB" sz="800">
                <a:solidFill>
                  <a:srgbClr val="64748B"/>
                </a:solidFill>
                <a:latin typeface="Calibri"/>
                <a:ea typeface="Calibri"/>
                <a:cs typeface="Calibri"/>
                <a:sym typeface="Calibri"/>
              </a:rPr>
              <a:t>Rating</a:t>
            </a:r>
            <a:endParaRPr sz="800" b="0" i="0" u="none" strike="noStrike" cap="none">
              <a:solidFill>
                <a:srgbClr val="000000"/>
              </a:solidFill>
              <a:latin typeface="Calibri"/>
              <a:ea typeface="Calibri"/>
              <a:cs typeface="Calibri"/>
              <a:sym typeface="Calibri"/>
            </a:endParaRPr>
          </a:p>
        </p:txBody>
      </p:sp>
      <p:sp>
        <p:nvSpPr>
          <p:cNvPr id="93" name="Google Shape;93;p12"/>
          <p:cNvSpPr/>
          <p:nvPr/>
        </p:nvSpPr>
        <p:spPr>
          <a:xfrm>
            <a:off x="8128678" y="706075"/>
            <a:ext cx="904500" cy="216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319"/>
              <a:buFont typeface="Calibri"/>
              <a:buNone/>
            </a:pPr>
            <a:r>
              <a:rPr lang="en-GB" sz="1219" b="1">
                <a:solidFill>
                  <a:srgbClr val="1F4690"/>
                </a:solidFill>
                <a:latin typeface="Calibri"/>
                <a:ea typeface="Calibri"/>
                <a:cs typeface="Calibri"/>
                <a:sym typeface="Calibri"/>
              </a:rPr>
              <a:t>{{rating}}</a:t>
            </a:r>
            <a:endParaRPr sz="1219" b="0" i="0" u="none" strike="noStrike" cap="none">
              <a:solidFill>
                <a:srgbClr val="000000"/>
              </a:solidFill>
              <a:latin typeface="Calibri"/>
              <a:ea typeface="Calibri"/>
              <a:cs typeface="Calibri"/>
              <a:sym typeface="Calibri"/>
            </a:endParaRPr>
          </a:p>
        </p:txBody>
      </p:sp>
      <p:sp>
        <p:nvSpPr>
          <p:cNvPr id="4" name="TextBox 3">
            <a:extLst>
              <a:ext uri="{FF2B5EF4-FFF2-40B4-BE49-F238E27FC236}">
                <a16:creationId xmlns:a16="http://schemas.microsoft.com/office/drawing/2014/main" id="{79262C27-C6C7-C039-2299-AC11AB96EE46}"/>
              </a:ext>
            </a:extLst>
          </p:cNvPr>
          <p:cNvSpPr txBox="1"/>
          <p:nvPr/>
        </p:nvSpPr>
        <p:spPr>
          <a:xfrm>
            <a:off x="7624350" y="4939328"/>
            <a:ext cx="863324" cy="215444"/>
          </a:xfrm>
          <a:prstGeom prst="rect">
            <a:avLst/>
          </a:prstGeom>
          <a:noFill/>
        </p:spPr>
        <p:txBody>
          <a:bodyPr wrap="square" rtlCol="0">
            <a:spAutoFit/>
          </a:bodyPr>
          <a:lstStyle/>
          <a:p>
            <a:r>
              <a:rPr lang="en-GB" sz="800" dirty="0">
                <a:solidFill>
                  <a:srgbClr val="FFFFFF"/>
                </a:solidFill>
                <a:latin typeface="Calibri"/>
                <a:ea typeface="Calibri"/>
                <a:cs typeface="Calibri"/>
                <a:sym typeface="Calibri"/>
              </a:rPr>
              <a:t>{{date}}</a:t>
            </a:r>
            <a:endParaRPr lang="en-GB" sz="800" dirty="0">
              <a:latin typeface="Calibri"/>
              <a:ea typeface="Calibri"/>
              <a:cs typeface="Calibri"/>
              <a:sym typeface="Calibri"/>
            </a:endParaRPr>
          </a:p>
        </p:txBody>
      </p:sp>
      <p:sp>
        <p:nvSpPr>
          <p:cNvPr id="5" name="TextBox 4">
            <a:extLst>
              <a:ext uri="{FF2B5EF4-FFF2-40B4-BE49-F238E27FC236}">
                <a16:creationId xmlns:a16="http://schemas.microsoft.com/office/drawing/2014/main" id="{9576CAC4-9B73-F845-F141-F5C0FFA9F7FD}"/>
              </a:ext>
            </a:extLst>
          </p:cNvPr>
          <p:cNvSpPr txBox="1"/>
          <p:nvPr/>
        </p:nvSpPr>
        <p:spPr>
          <a:xfrm>
            <a:off x="8636206" y="4956048"/>
            <a:ext cx="1198409" cy="430887"/>
          </a:xfrm>
          <a:prstGeom prst="rect">
            <a:avLst/>
          </a:prstGeom>
          <a:noFill/>
        </p:spPr>
        <p:txBody>
          <a:bodyPr wrap="square" rtlCol="0">
            <a:spAutoFit/>
          </a:bodyPr>
          <a:lstStyle/>
          <a:p>
            <a:r>
              <a:rPr lang="en-GB" sz="800" b="1" dirty="0">
                <a:solidFill>
                  <a:srgbClr val="FFA500"/>
                </a:solidFill>
                <a:latin typeface="Calibri"/>
                <a:ea typeface="Calibri"/>
                <a:cs typeface="Calibri"/>
                <a:sym typeface="Calibri"/>
              </a:rPr>
              <a:t>1/ 20</a:t>
            </a:r>
            <a:endParaRPr lang="en-GB" sz="800" dirty="0">
              <a:latin typeface="Calibri"/>
              <a:ea typeface="Calibri"/>
              <a:cs typeface="Calibri"/>
              <a:sym typeface="Calibri"/>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3"/>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Story in Charts</a:t>
            </a:r>
            <a:endParaRPr sz="1800"/>
          </a:p>
        </p:txBody>
      </p:sp>
      <p:sp>
        <p:nvSpPr>
          <p:cNvPr id="99" name="Google Shape;99;p13"/>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0" name="Google Shape;100;p13"/>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101" name="Google Shape;101;p13"/>
          <p:cNvSpPr/>
          <p:nvPr/>
        </p:nvSpPr>
        <p:spPr>
          <a:xfrm>
            <a:off x="95800" y="638725"/>
            <a:ext cx="8976300" cy="42381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{{financial_charts}}</a:t>
            </a:r>
            <a:endParaRPr sz="800"/>
          </a:p>
        </p:txBody>
      </p:sp>
      <p:sp>
        <p:nvSpPr>
          <p:cNvPr id="102" name="Google Shape;102;p13"/>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3"/>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104" name="Google Shape;104;p13"/>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2</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105" name="Google Shape;105;p13"/>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4"/>
          <p:cNvSpPr/>
          <p:nvPr/>
        </p:nvSpPr>
        <p:spPr>
          <a:xfrm>
            <a:off x="95800" y="638725"/>
            <a:ext cx="8976300" cy="42381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{{operational_charts}}</a:t>
            </a:r>
            <a:endParaRPr sz="800"/>
          </a:p>
        </p:txBody>
      </p:sp>
      <p:sp>
        <p:nvSpPr>
          <p:cNvPr id="111" name="Google Shape;111;p14"/>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Story in Charts</a:t>
            </a:r>
            <a:endParaRPr sz="1800"/>
          </a:p>
        </p:txBody>
      </p:sp>
      <p:sp>
        <p:nvSpPr>
          <p:cNvPr id="112" name="Google Shape;112;p14"/>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 name="Google Shape;113;p14"/>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114" name="Google Shape;114;p14"/>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4"/>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116" name="Google Shape;116;p14"/>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3</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117" name="Google Shape;117;p14"/>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5"/>
          <p:cNvSpPr/>
          <p:nvPr/>
        </p:nvSpPr>
        <p:spPr>
          <a:xfrm>
            <a:off x="110450" y="634200"/>
            <a:ext cx="4320600" cy="42498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5"/>
          <p:cNvSpPr txBox="1"/>
          <p:nvPr/>
        </p:nvSpPr>
        <p:spPr>
          <a:xfrm>
            <a:off x="156419" y="750000"/>
            <a:ext cx="4280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200" i="0" u="none" strike="noStrike" cap="none">
              <a:solidFill>
                <a:srgbClr val="000000"/>
              </a:solidFill>
              <a:latin typeface="Calibri"/>
              <a:ea typeface="Calibri"/>
              <a:cs typeface="Calibri"/>
              <a:sym typeface="Calibri"/>
            </a:endParaRPr>
          </a:p>
        </p:txBody>
      </p:sp>
      <p:sp>
        <p:nvSpPr>
          <p:cNvPr id="124" name="Google Shape;124;p15"/>
          <p:cNvSpPr/>
          <p:nvPr/>
        </p:nvSpPr>
        <p:spPr>
          <a:xfrm>
            <a:off x="110450" y="622925"/>
            <a:ext cx="4320600" cy="3474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125" name="Google Shape;125;p15"/>
          <p:cNvSpPr/>
          <p:nvPr/>
        </p:nvSpPr>
        <p:spPr>
          <a:xfrm>
            <a:off x="178000" y="1026900"/>
            <a:ext cx="4180500" cy="37824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{{investment_thesis_s4}}</a:t>
            </a:r>
            <a:endParaRPr sz="800" b="0" i="0" u="none" strike="noStrike" cap="none">
              <a:solidFill>
                <a:srgbClr val="000000"/>
              </a:solidFill>
              <a:latin typeface="Calibri"/>
              <a:ea typeface="Calibri"/>
              <a:cs typeface="Calibri"/>
              <a:sym typeface="Calibri"/>
            </a:endParaRPr>
          </a:p>
        </p:txBody>
      </p:sp>
      <p:sp>
        <p:nvSpPr>
          <p:cNvPr id="126" name="Google Shape;126;p15"/>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Investment Thesis</a:t>
            </a:r>
            <a:endParaRPr sz="1800" b="1">
              <a:solidFill>
                <a:schemeClr val="lt1"/>
              </a:solidFill>
              <a:latin typeface="Calibri"/>
              <a:ea typeface="Calibri"/>
              <a:cs typeface="Calibri"/>
              <a:sym typeface="Calibri"/>
            </a:endParaRPr>
          </a:p>
        </p:txBody>
      </p:sp>
      <p:sp>
        <p:nvSpPr>
          <p:cNvPr id="127" name="Google Shape;127;p15"/>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8" name="Google Shape;128;p15"/>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129" name="Google Shape;129;p15"/>
          <p:cNvSpPr/>
          <p:nvPr/>
        </p:nvSpPr>
        <p:spPr>
          <a:xfrm>
            <a:off x="235541" y="655800"/>
            <a:ext cx="41229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FFFFFF"/>
                </a:solidFill>
                <a:latin typeface="Calibri"/>
                <a:ea typeface="Calibri"/>
                <a:cs typeface="Calibri"/>
                <a:sym typeface="Calibri"/>
              </a:rPr>
              <a:t>{{investment_thesis_heading_s4}}</a:t>
            </a:r>
            <a:endParaRPr sz="1200" b="1">
              <a:solidFill>
                <a:srgbClr val="FFFFFF"/>
              </a:solidFill>
              <a:latin typeface="Calibri"/>
              <a:ea typeface="Calibri"/>
              <a:cs typeface="Calibri"/>
              <a:sym typeface="Calibri"/>
            </a:endParaRPr>
          </a:p>
        </p:txBody>
      </p:sp>
      <p:sp>
        <p:nvSpPr>
          <p:cNvPr id="130" name="Google Shape;130;p15"/>
          <p:cNvSpPr/>
          <p:nvPr/>
        </p:nvSpPr>
        <p:spPr>
          <a:xfrm>
            <a:off x="4573400" y="626025"/>
            <a:ext cx="44988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31" name="Google Shape;131;p15"/>
          <p:cNvSpPr/>
          <p:nvPr/>
        </p:nvSpPr>
        <p:spPr>
          <a:xfrm>
            <a:off x="4626125" y="970325"/>
            <a:ext cx="4388700" cy="5649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{{key_catalyst_1}}</a:t>
            </a:r>
            <a:endParaRPr sz="800">
              <a:solidFill>
                <a:schemeClr val="dk1"/>
              </a:solidFill>
              <a:latin typeface="Calibri"/>
              <a:ea typeface="Calibri"/>
              <a:cs typeface="Calibri"/>
              <a:sym typeface="Calibri"/>
            </a:endParaRPr>
          </a:p>
        </p:txBody>
      </p:sp>
      <p:sp>
        <p:nvSpPr>
          <p:cNvPr id="132" name="Google Shape;132;p15"/>
          <p:cNvSpPr/>
          <p:nvPr/>
        </p:nvSpPr>
        <p:spPr>
          <a:xfrm>
            <a:off x="4573200" y="624258"/>
            <a:ext cx="44988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5"/>
          <p:cNvSpPr/>
          <p:nvPr/>
        </p:nvSpPr>
        <p:spPr>
          <a:xfrm>
            <a:off x="4626125" y="671012"/>
            <a:ext cx="34173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F4690"/>
                </a:solidFill>
                <a:latin typeface="Calibri"/>
                <a:ea typeface="Calibri"/>
                <a:cs typeface="Calibri"/>
                <a:sym typeface="Calibri"/>
              </a:rPr>
              <a:t>{{key_catalyst_heading_1}}</a:t>
            </a:r>
            <a:endParaRPr sz="1200" b="1">
              <a:solidFill>
                <a:srgbClr val="1F4690"/>
              </a:solidFill>
              <a:latin typeface="Calibri"/>
              <a:ea typeface="Calibri"/>
              <a:cs typeface="Calibri"/>
              <a:sym typeface="Calibri"/>
            </a:endParaRPr>
          </a:p>
        </p:txBody>
      </p:sp>
      <p:sp>
        <p:nvSpPr>
          <p:cNvPr id="134" name="Google Shape;134;p15"/>
          <p:cNvSpPr/>
          <p:nvPr/>
        </p:nvSpPr>
        <p:spPr>
          <a:xfrm>
            <a:off x="4573600" y="3683850"/>
            <a:ext cx="4498800" cy="1200300"/>
          </a:xfrm>
          <a:prstGeom prst="rect">
            <a:avLst/>
          </a:prstGeom>
          <a:solidFill>
            <a:srgbClr val="FFE5B4"/>
          </a:solidFill>
          <a:ln w="2857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35" name="Google Shape;135;p15"/>
          <p:cNvSpPr/>
          <p:nvPr/>
        </p:nvSpPr>
        <p:spPr>
          <a:xfrm>
            <a:off x="4626325" y="3717913"/>
            <a:ext cx="4388700" cy="1096200"/>
          </a:xfrm>
          <a:prstGeom prst="rect">
            <a:avLst/>
          </a:prstGeom>
          <a:solidFill>
            <a:srgbClr val="FFE5B4"/>
          </a:solid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b="1">
                <a:solidFill>
                  <a:schemeClr val="dk1"/>
                </a:solidFill>
                <a:latin typeface="Calibri"/>
                <a:ea typeface="Calibri"/>
                <a:cs typeface="Calibri"/>
                <a:sym typeface="Calibri"/>
              </a:rPr>
              <a:t>{{</a:t>
            </a:r>
            <a:r>
              <a:rPr lang="en-GB" sz="800">
                <a:solidFill>
                  <a:schemeClr val="dk1"/>
                </a:solidFill>
                <a:latin typeface="Calibri"/>
                <a:ea typeface="Calibri"/>
                <a:cs typeface="Calibri"/>
                <a:sym typeface="Calibri"/>
              </a:rPr>
              <a:t>saarthi_summary_s4</a:t>
            </a:r>
            <a:r>
              <a:rPr lang="en-GB" sz="800" b="1">
                <a:solidFill>
                  <a:schemeClr val="dk1"/>
                </a:solidFill>
                <a:latin typeface="Calibri"/>
                <a:ea typeface="Calibri"/>
                <a:cs typeface="Calibri"/>
                <a:sym typeface="Calibri"/>
              </a:rPr>
              <a:t>}}</a:t>
            </a:r>
            <a:endParaRPr sz="800" b="1">
              <a:solidFill>
                <a:schemeClr val="dk1"/>
              </a:solidFill>
              <a:latin typeface="Calibri"/>
              <a:ea typeface="Calibri"/>
              <a:cs typeface="Calibri"/>
              <a:sym typeface="Calibri"/>
            </a:endParaRPr>
          </a:p>
        </p:txBody>
      </p:sp>
      <p:sp>
        <p:nvSpPr>
          <p:cNvPr id="136" name="Google Shape;136;p15"/>
          <p:cNvSpPr/>
          <p:nvPr/>
        </p:nvSpPr>
        <p:spPr>
          <a:xfrm>
            <a:off x="4573700" y="1647963"/>
            <a:ext cx="44988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37" name="Google Shape;137;p15"/>
          <p:cNvSpPr/>
          <p:nvPr/>
        </p:nvSpPr>
        <p:spPr>
          <a:xfrm>
            <a:off x="4626425" y="1992263"/>
            <a:ext cx="4388700" cy="5649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{{key_catalyst_2}}</a:t>
            </a:r>
            <a:endParaRPr sz="800">
              <a:solidFill>
                <a:schemeClr val="dk1"/>
              </a:solidFill>
              <a:latin typeface="Calibri"/>
              <a:ea typeface="Calibri"/>
              <a:cs typeface="Calibri"/>
              <a:sym typeface="Calibri"/>
            </a:endParaRPr>
          </a:p>
        </p:txBody>
      </p:sp>
      <p:sp>
        <p:nvSpPr>
          <p:cNvPr id="138" name="Google Shape;138;p15"/>
          <p:cNvSpPr/>
          <p:nvPr/>
        </p:nvSpPr>
        <p:spPr>
          <a:xfrm>
            <a:off x="4573500" y="1646196"/>
            <a:ext cx="44988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5"/>
          <p:cNvSpPr/>
          <p:nvPr/>
        </p:nvSpPr>
        <p:spPr>
          <a:xfrm>
            <a:off x="4626425" y="1692950"/>
            <a:ext cx="34173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F4690"/>
                </a:solidFill>
                <a:latin typeface="Calibri"/>
                <a:ea typeface="Calibri"/>
                <a:cs typeface="Calibri"/>
                <a:sym typeface="Calibri"/>
              </a:rPr>
              <a:t>{{key_catalyst_heading_2}}</a:t>
            </a:r>
            <a:endParaRPr sz="1200" b="1">
              <a:solidFill>
                <a:srgbClr val="1F4690"/>
              </a:solidFill>
              <a:latin typeface="Calibri"/>
              <a:ea typeface="Calibri"/>
              <a:cs typeface="Calibri"/>
              <a:sym typeface="Calibri"/>
            </a:endParaRPr>
          </a:p>
        </p:txBody>
      </p:sp>
      <p:sp>
        <p:nvSpPr>
          <p:cNvPr id="140" name="Google Shape;140;p15"/>
          <p:cNvSpPr/>
          <p:nvPr/>
        </p:nvSpPr>
        <p:spPr>
          <a:xfrm>
            <a:off x="4573800" y="2649200"/>
            <a:ext cx="44988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41" name="Google Shape;141;p15"/>
          <p:cNvSpPr/>
          <p:nvPr/>
        </p:nvSpPr>
        <p:spPr>
          <a:xfrm>
            <a:off x="4626525" y="2993500"/>
            <a:ext cx="4388700" cy="5649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{{key_catalyst_3}}</a:t>
            </a:r>
            <a:endParaRPr sz="800">
              <a:solidFill>
                <a:schemeClr val="dk1"/>
              </a:solidFill>
              <a:latin typeface="Calibri"/>
              <a:ea typeface="Calibri"/>
              <a:cs typeface="Calibri"/>
              <a:sym typeface="Calibri"/>
            </a:endParaRPr>
          </a:p>
        </p:txBody>
      </p:sp>
      <p:sp>
        <p:nvSpPr>
          <p:cNvPr id="142" name="Google Shape;142;p15"/>
          <p:cNvSpPr/>
          <p:nvPr/>
        </p:nvSpPr>
        <p:spPr>
          <a:xfrm>
            <a:off x="4573600" y="2647433"/>
            <a:ext cx="44988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5"/>
          <p:cNvSpPr/>
          <p:nvPr/>
        </p:nvSpPr>
        <p:spPr>
          <a:xfrm>
            <a:off x="4626425" y="2701450"/>
            <a:ext cx="34173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F4690"/>
                </a:solidFill>
                <a:latin typeface="Calibri"/>
                <a:ea typeface="Calibri"/>
                <a:cs typeface="Calibri"/>
                <a:sym typeface="Calibri"/>
              </a:rPr>
              <a:t>{{key_catalyst_heading_3}}</a:t>
            </a:r>
            <a:endParaRPr sz="1200" b="1">
              <a:solidFill>
                <a:srgbClr val="1F4690"/>
              </a:solidFill>
              <a:latin typeface="Calibri"/>
              <a:ea typeface="Calibri"/>
              <a:cs typeface="Calibri"/>
              <a:sym typeface="Calibri"/>
            </a:endParaRPr>
          </a:p>
        </p:txBody>
      </p:sp>
      <p:sp>
        <p:nvSpPr>
          <p:cNvPr id="144" name="Google Shape;144;p15"/>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146" name="Google Shape;146;p15"/>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4</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147" name="Google Shape;147;p15"/>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Industry Overview</a:t>
            </a:r>
            <a:endParaRPr sz="1800" b="1">
              <a:solidFill>
                <a:schemeClr val="lt1"/>
              </a:solidFill>
              <a:latin typeface="Calibri"/>
              <a:ea typeface="Calibri"/>
              <a:cs typeface="Calibri"/>
              <a:sym typeface="Calibri"/>
            </a:endParaRPr>
          </a:p>
        </p:txBody>
      </p:sp>
      <p:sp>
        <p:nvSpPr>
          <p:cNvPr id="153" name="Google Shape;153;p16"/>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6"/>
          <p:cNvSpPr/>
          <p:nvPr/>
        </p:nvSpPr>
        <p:spPr>
          <a:xfrm>
            <a:off x="105975" y="679763"/>
            <a:ext cx="2884200" cy="31815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55" name="Google Shape;155;p16"/>
          <p:cNvSpPr/>
          <p:nvPr/>
        </p:nvSpPr>
        <p:spPr>
          <a:xfrm>
            <a:off x="139775" y="983725"/>
            <a:ext cx="2813700" cy="28350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{{industry_structure}}</a:t>
            </a:r>
            <a:endParaRPr sz="800">
              <a:solidFill>
                <a:schemeClr val="dk1"/>
              </a:solidFill>
              <a:latin typeface="Calibri"/>
              <a:ea typeface="Calibri"/>
              <a:cs typeface="Calibri"/>
              <a:sym typeface="Calibri"/>
            </a:endParaRPr>
          </a:p>
        </p:txBody>
      </p:sp>
      <p:sp>
        <p:nvSpPr>
          <p:cNvPr id="156" name="Google Shape;156;p16"/>
          <p:cNvSpPr/>
          <p:nvPr/>
        </p:nvSpPr>
        <p:spPr>
          <a:xfrm>
            <a:off x="105850" y="678000"/>
            <a:ext cx="28842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p:cNvSpPr/>
          <p:nvPr/>
        </p:nvSpPr>
        <p:spPr>
          <a:xfrm>
            <a:off x="139774" y="724750"/>
            <a:ext cx="28137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GB" sz="1200" b="1">
                <a:solidFill>
                  <a:srgbClr val="1F4690"/>
                </a:solidFill>
                <a:latin typeface="Calibri"/>
                <a:ea typeface="Calibri"/>
                <a:cs typeface="Calibri"/>
                <a:sym typeface="Calibri"/>
              </a:rPr>
              <a:t>Industry Structure</a:t>
            </a:r>
            <a:endParaRPr sz="1200" b="1">
              <a:solidFill>
                <a:srgbClr val="1F4690"/>
              </a:solidFill>
              <a:latin typeface="Calibri"/>
              <a:ea typeface="Calibri"/>
              <a:cs typeface="Calibri"/>
              <a:sym typeface="Calibri"/>
            </a:endParaRPr>
          </a:p>
        </p:txBody>
      </p:sp>
      <p:sp>
        <p:nvSpPr>
          <p:cNvPr id="158" name="Google Shape;158;p16"/>
          <p:cNvSpPr/>
          <p:nvPr/>
        </p:nvSpPr>
        <p:spPr>
          <a:xfrm>
            <a:off x="3129963" y="679750"/>
            <a:ext cx="2884200" cy="31815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59" name="Google Shape;159;p16"/>
          <p:cNvSpPr/>
          <p:nvPr/>
        </p:nvSpPr>
        <p:spPr>
          <a:xfrm>
            <a:off x="3163775" y="983675"/>
            <a:ext cx="2813700" cy="28350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{{key_industry_tailwinds}}</a:t>
            </a:r>
            <a:endParaRPr sz="800">
              <a:solidFill>
                <a:schemeClr val="dk1"/>
              </a:solidFill>
              <a:latin typeface="Calibri"/>
              <a:ea typeface="Calibri"/>
              <a:cs typeface="Calibri"/>
              <a:sym typeface="Calibri"/>
            </a:endParaRPr>
          </a:p>
        </p:txBody>
      </p:sp>
      <p:sp>
        <p:nvSpPr>
          <p:cNvPr id="160" name="Google Shape;160;p16"/>
          <p:cNvSpPr/>
          <p:nvPr/>
        </p:nvSpPr>
        <p:spPr>
          <a:xfrm>
            <a:off x="3129838" y="677988"/>
            <a:ext cx="28842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6"/>
          <p:cNvSpPr/>
          <p:nvPr/>
        </p:nvSpPr>
        <p:spPr>
          <a:xfrm>
            <a:off x="3163777" y="724750"/>
            <a:ext cx="27891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GB" sz="1200" b="1">
                <a:solidFill>
                  <a:srgbClr val="1F4690"/>
                </a:solidFill>
                <a:latin typeface="Calibri"/>
                <a:ea typeface="Calibri"/>
                <a:cs typeface="Calibri"/>
                <a:sym typeface="Calibri"/>
              </a:rPr>
              <a:t>Key Industry Tailwinds</a:t>
            </a:r>
            <a:endParaRPr sz="1200" b="1">
              <a:solidFill>
                <a:srgbClr val="1F4690"/>
              </a:solidFill>
              <a:latin typeface="Calibri"/>
              <a:ea typeface="Calibri"/>
              <a:cs typeface="Calibri"/>
              <a:sym typeface="Calibri"/>
            </a:endParaRPr>
          </a:p>
        </p:txBody>
      </p:sp>
      <p:sp>
        <p:nvSpPr>
          <p:cNvPr id="162" name="Google Shape;162;p16"/>
          <p:cNvSpPr/>
          <p:nvPr/>
        </p:nvSpPr>
        <p:spPr>
          <a:xfrm>
            <a:off x="6154100" y="679750"/>
            <a:ext cx="2884200" cy="31815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163" name="Google Shape;163;p16"/>
          <p:cNvSpPr/>
          <p:nvPr/>
        </p:nvSpPr>
        <p:spPr>
          <a:xfrm>
            <a:off x="6187900" y="983675"/>
            <a:ext cx="2813700" cy="28350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{{key_industry_risks}}</a:t>
            </a:r>
            <a:endParaRPr sz="800">
              <a:solidFill>
                <a:schemeClr val="dk1"/>
              </a:solidFill>
              <a:latin typeface="Calibri"/>
              <a:ea typeface="Calibri"/>
              <a:cs typeface="Calibri"/>
              <a:sym typeface="Calibri"/>
            </a:endParaRPr>
          </a:p>
        </p:txBody>
      </p:sp>
      <p:sp>
        <p:nvSpPr>
          <p:cNvPr id="164" name="Google Shape;164;p16"/>
          <p:cNvSpPr/>
          <p:nvPr/>
        </p:nvSpPr>
        <p:spPr>
          <a:xfrm>
            <a:off x="6153975" y="677988"/>
            <a:ext cx="28842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6"/>
          <p:cNvSpPr/>
          <p:nvPr/>
        </p:nvSpPr>
        <p:spPr>
          <a:xfrm>
            <a:off x="6187899" y="724750"/>
            <a:ext cx="28137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GB" sz="1200" b="1">
                <a:solidFill>
                  <a:srgbClr val="1F4690"/>
                </a:solidFill>
                <a:latin typeface="Calibri"/>
                <a:ea typeface="Calibri"/>
                <a:cs typeface="Calibri"/>
                <a:sym typeface="Calibri"/>
              </a:rPr>
              <a:t>Key Industry Risks</a:t>
            </a:r>
            <a:endParaRPr sz="1200" b="1">
              <a:solidFill>
                <a:srgbClr val="1F4690"/>
              </a:solidFill>
              <a:latin typeface="Calibri"/>
              <a:ea typeface="Calibri"/>
              <a:cs typeface="Calibri"/>
              <a:sym typeface="Calibri"/>
            </a:endParaRPr>
          </a:p>
        </p:txBody>
      </p:sp>
      <p:pic>
        <p:nvPicPr>
          <p:cNvPr id="166" name="Google Shape;166;p16"/>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167" name="Google Shape;167;p16"/>
          <p:cNvSpPr/>
          <p:nvPr/>
        </p:nvSpPr>
        <p:spPr>
          <a:xfrm>
            <a:off x="105863" y="3990937"/>
            <a:ext cx="1436400" cy="711000"/>
          </a:xfrm>
          <a:prstGeom prst="rect">
            <a:avLst/>
          </a:prstGeom>
          <a:solidFill>
            <a:srgbClr val="3A5BA0">
              <a:alpha val="24530"/>
            </a:srgbClr>
          </a:solidFill>
          <a:ln w="9975" cap="flat" cmpd="sng">
            <a:solidFill>
              <a:srgbClr val="D1D5DB"/>
            </a:solidFill>
            <a:prstDash val="solid"/>
            <a:round/>
            <a:headEnd type="none" w="sm" len="sm"/>
            <a:tailEnd type="none" w="sm" len="sm"/>
          </a:ln>
          <a:effectLst>
            <a:outerShdw blurRad="106397" dist="26599" dir="8100000" algn="bl" rotWithShape="0">
              <a:srgbClr val="000000">
                <a:alpha val="10200"/>
              </a:srgbClr>
            </a:outerShdw>
          </a:effectLst>
        </p:spPr>
        <p:txBody>
          <a:bodyPr spcFirstLastPara="1" wrap="square" lIns="95775" tIns="95775" rIns="95775" bIns="95775" anchor="ctr" anchorCtr="0">
            <a:noAutofit/>
          </a:bodyPr>
          <a:lstStyle/>
          <a:p>
            <a:pPr marL="0" lvl="0" indent="0" algn="l" rtl="0">
              <a:spcBef>
                <a:spcPts val="0"/>
              </a:spcBef>
              <a:spcAft>
                <a:spcPts val="0"/>
              </a:spcAft>
              <a:buNone/>
            </a:pPr>
            <a:endParaRPr sz="2001"/>
          </a:p>
        </p:txBody>
      </p:sp>
      <p:sp>
        <p:nvSpPr>
          <p:cNvPr id="168" name="Google Shape;168;p16"/>
          <p:cNvSpPr/>
          <p:nvPr/>
        </p:nvSpPr>
        <p:spPr>
          <a:xfrm>
            <a:off x="219769" y="4052748"/>
            <a:ext cx="1244700" cy="17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{{KPI_heading_1}}</a:t>
            </a:r>
            <a:endParaRPr sz="843" b="0" i="0" u="none" strike="noStrike" cap="none">
              <a:solidFill>
                <a:srgbClr val="000000"/>
              </a:solidFill>
              <a:latin typeface="Calibri"/>
              <a:ea typeface="Calibri"/>
              <a:cs typeface="Calibri"/>
              <a:sym typeface="Calibri"/>
            </a:endParaRPr>
          </a:p>
        </p:txBody>
      </p:sp>
      <p:sp>
        <p:nvSpPr>
          <p:cNvPr id="169" name="Google Shape;169;p16"/>
          <p:cNvSpPr/>
          <p:nvPr/>
        </p:nvSpPr>
        <p:spPr>
          <a:xfrm>
            <a:off x="182468" y="4243576"/>
            <a:ext cx="1293000" cy="30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885"/>
              <a:buFont typeface="Calibri"/>
              <a:buNone/>
            </a:pPr>
            <a:r>
              <a:rPr lang="en-GB" sz="1542" b="1">
                <a:solidFill>
                  <a:srgbClr val="1F4690"/>
                </a:solidFill>
                <a:latin typeface="Calibri"/>
                <a:ea typeface="Calibri"/>
                <a:cs typeface="Calibri"/>
                <a:sym typeface="Calibri"/>
              </a:rPr>
              <a:t>{{KPI_1}}</a:t>
            </a:r>
            <a:endParaRPr sz="1542" b="0" i="0" u="none" strike="noStrike" cap="none">
              <a:solidFill>
                <a:srgbClr val="000000"/>
              </a:solidFill>
              <a:latin typeface="Calibri"/>
              <a:ea typeface="Calibri"/>
              <a:cs typeface="Calibri"/>
              <a:sym typeface="Calibri"/>
            </a:endParaRPr>
          </a:p>
        </p:txBody>
      </p:sp>
      <p:sp>
        <p:nvSpPr>
          <p:cNvPr id="170" name="Google Shape;170;p16"/>
          <p:cNvSpPr/>
          <p:nvPr/>
        </p:nvSpPr>
        <p:spPr>
          <a:xfrm>
            <a:off x="1605069" y="3990937"/>
            <a:ext cx="1436400" cy="711000"/>
          </a:xfrm>
          <a:prstGeom prst="rect">
            <a:avLst/>
          </a:prstGeom>
          <a:solidFill>
            <a:srgbClr val="FFE5B4"/>
          </a:solidFill>
          <a:ln w="9975" cap="flat" cmpd="sng">
            <a:solidFill>
              <a:srgbClr val="D1D5DB"/>
            </a:solidFill>
            <a:prstDash val="solid"/>
            <a:round/>
            <a:headEnd type="none" w="sm" len="sm"/>
            <a:tailEnd type="none" w="sm" len="sm"/>
          </a:ln>
          <a:effectLst>
            <a:outerShdw blurRad="106397" dist="26599" dir="8100000" algn="bl" rotWithShape="0">
              <a:srgbClr val="000000">
                <a:alpha val="10200"/>
              </a:srgbClr>
            </a:outerShdw>
          </a:effectLst>
        </p:spPr>
        <p:txBody>
          <a:bodyPr spcFirstLastPara="1" wrap="square" lIns="95775" tIns="95775" rIns="95775" bIns="95775" anchor="ctr" anchorCtr="0">
            <a:noAutofit/>
          </a:bodyPr>
          <a:lstStyle/>
          <a:p>
            <a:pPr marL="0" lvl="0" indent="0" algn="l" rtl="0">
              <a:spcBef>
                <a:spcPts val="0"/>
              </a:spcBef>
              <a:spcAft>
                <a:spcPts val="0"/>
              </a:spcAft>
              <a:buNone/>
            </a:pPr>
            <a:endParaRPr sz="2001"/>
          </a:p>
        </p:txBody>
      </p:sp>
      <p:sp>
        <p:nvSpPr>
          <p:cNvPr id="171" name="Google Shape;171;p16"/>
          <p:cNvSpPr/>
          <p:nvPr/>
        </p:nvSpPr>
        <p:spPr>
          <a:xfrm>
            <a:off x="1718975" y="4052748"/>
            <a:ext cx="1244700" cy="17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{{KPI_heading_2}}</a:t>
            </a:r>
            <a:endParaRPr sz="843" b="0" i="0" u="none" strike="noStrike" cap="none">
              <a:solidFill>
                <a:srgbClr val="000000"/>
              </a:solidFill>
              <a:latin typeface="Calibri"/>
              <a:ea typeface="Calibri"/>
              <a:cs typeface="Calibri"/>
              <a:sym typeface="Calibri"/>
            </a:endParaRPr>
          </a:p>
        </p:txBody>
      </p:sp>
      <p:sp>
        <p:nvSpPr>
          <p:cNvPr id="172" name="Google Shape;172;p16"/>
          <p:cNvSpPr/>
          <p:nvPr/>
        </p:nvSpPr>
        <p:spPr>
          <a:xfrm>
            <a:off x="1681674" y="4243576"/>
            <a:ext cx="1293000" cy="30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885"/>
              <a:buFont typeface="Calibri"/>
              <a:buNone/>
            </a:pPr>
            <a:r>
              <a:rPr lang="en-GB" sz="1542" b="1">
                <a:solidFill>
                  <a:srgbClr val="1F4690"/>
                </a:solidFill>
                <a:latin typeface="Calibri"/>
                <a:ea typeface="Calibri"/>
                <a:cs typeface="Calibri"/>
                <a:sym typeface="Calibri"/>
              </a:rPr>
              <a:t>{{KPI_2}}</a:t>
            </a:r>
            <a:endParaRPr sz="1542" b="0" i="0" u="none" strike="noStrike" cap="none">
              <a:solidFill>
                <a:srgbClr val="000000"/>
              </a:solidFill>
              <a:latin typeface="Calibri"/>
              <a:ea typeface="Calibri"/>
              <a:cs typeface="Calibri"/>
              <a:sym typeface="Calibri"/>
            </a:endParaRPr>
          </a:p>
        </p:txBody>
      </p:sp>
      <p:sp>
        <p:nvSpPr>
          <p:cNvPr id="173" name="Google Shape;173;p16"/>
          <p:cNvSpPr/>
          <p:nvPr/>
        </p:nvSpPr>
        <p:spPr>
          <a:xfrm>
            <a:off x="3104275" y="3990888"/>
            <a:ext cx="1436400" cy="711000"/>
          </a:xfrm>
          <a:prstGeom prst="rect">
            <a:avLst/>
          </a:prstGeom>
          <a:solidFill>
            <a:srgbClr val="3A5BA0">
              <a:alpha val="24530"/>
            </a:srgbClr>
          </a:solidFill>
          <a:ln w="9975" cap="flat" cmpd="sng">
            <a:solidFill>
              <a:srgbClr val="D1D5DB"/>
            </a:solidFill>
            <a:prstDash val="solid"/>
            <a:round/>
            <a:headEnd type="none" w="sm" len="sm"/>
            <a:tailEnd type="none" w="sm" len="sm"/>
          </a:ln>
          <a:effectLst>
            <a:outerShdw blurRad="106397" dist="26599" dir="8100000" algn="bl" rotWithShape="0">
              <a:srgbClr val="000000">
                <a:alpha val="10200"/>
              </a:srgbClr>
            </a:outerShdw>
          </a:effectLst>
        </p:spPr>
        <p:txBody>
          <a:bodyPr spcFirstLastPara="1" wrap="square" lIns="95775" tIns="95775" rIns="95775" bIns="95775" anchor="ctr" anchorCtr="0">
            <a:noAutofit/>
          </a:bodyPr>
          <a:lstStyle/>
          <a:p>
            <a:pPr marL="0" lvl="0" indent="0" algn="l" rtl="0">
              <a:spcBef>
                <a:spcPts val="0"/>
              </a:spcBef>
              <a:spcAft>
                <a:spcPts val="0"/>
              </a:spcAft>
              <a:buNone/>
            </a:pPr>
            <a:endParaRPr sz="2001"/>
          </a:p>
        </p:txBody>
      </p:sp>
      <p:sp>
        <p:nvSpPr>
          <p:cNvPr id="174" name="Google Shape;174;p16"/>
          <p:cNvSpPr/>
          <p:nvPr/>
        </p:nvSpPr>
        <p:spPr>
          <a:xfrm>
            <a:off x="3218182" y="4052698"/>
            <a:ext cx="1244700" cy="17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{{KPI_heading_3}}</a:t>
            </a:r>
            <a:endParaRPr sz="843" b="0" i="0" u="none" strike="noStrike" cap="none">
              <a:solidFill>
                <a:srgbClr val="000000"/>
              </a:solidFill>
              <a:latin typeface="Calibri"/>
              <a:ea typeface="Calibri"/>
              <a:cs typeface="Calibri"/>
              <a:sym typeface="Calibri"/>
            </a:endParaRPr>
          </a:p>
        </p:txBody>
      </p:sp>
      <p:sp>
        <p:nvSpPr>
          <p:cNvPr id="175" name="Google Shape;175;p16"/>
          <p:cNvSpPr/>
          <p:nvPr/>
        </p:nvSpPr>
        <p:spPr>
          <a:xfrm>
            <a:off x="3180881" y="4243526"/>
            <a:ext cx="1293000" cy="30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885"/>
              <a:buFont typeface="Calibri"/>
              <a:buNone/>
            </a:pPr>
            <a:r>
              <a:rPr lang="en-GB" sz="1542" b="1">
                <a:solidFill>
                  <a:srgbClr val="1F4690"/>
                </a:solidFill>
                <a:latin typeface="Calibri"/>
                <a:ea typeface="Calibri"/>
                <a:cs typeface="Calibri"/>
                <a:sym typeface="Calibri"/>
              </a:rPr>
              <a:t>{{KPI_3}}</a:t>
            </a:r>
            <a:endParaRPr sz="1542" b="0" i="0" u="none" strike="noStrike" cap="none">
              <a:solidFill>
                <a:srgbClr val="000000"/>
              </a:solidFill>
              <a:latin typeface="Calibri"/>
              <a:ea typeface="Calibri"/>
              <a:cs typeface="Calibri"/>
              <a:sym typeface="Calibri"/>
            </a:endParaRPr>
          </a:p>
        </p:txBody>
      </p:sp>
      <p:sp>
        <p:nvSpPr>
          <p:cNvPr id="176" name="Google Shape;176;p16"/>
          <p:cNvSpPr/>
          <p:nvPr/>
        </p:nvSpPr>
        <p:spPr>
          <a:xfrm>
            <a:off x="4603482" y="3990888"/>
            <a:ext cx="1436400" cy="711000"/>
          </a:xfrm>
          <a:prstGeom prst="rect">
            <a:avLst/>
          </a:prstGeom>
          <a:solidFill>
            <a:srgbClr val="FFE5B4"/>
          </a:solidFill>
          <a:ln w="9975" cap="flat" cmpd="sng">
            <a:solidFill>
              <a:srgbClr val="D1D5DB"/>
            </a:solidFill>
            <a:prstDash val="solid"/>
            <a:round/>
            <a:headEnd type="none" w="sm" len="sm"/>
            <a:tailEnd type="none" w="sm" len="sm"/>
          </a:ln>
          <a:effectLst>
            <a:outerShdw blurRad="106397" dist="26599" dir="8100000" algn="bl" rotWithShape="0">
              <a:srgbClr val="000000">
                <a:alpha val="10200"/>
              </a:srgbClr>
            </a:outerShdw>
          </a:effectLst>
        </p:spPr>
        <p:txBody>
          <a:bodyPr spcFirstLastPara="1" wrap="square" lIns="95775" tIns="95775" rIns="95775" bIns="95775" anchor="ctr" anchorCtr="0">
            <a:noAutofit/>
          </a:bodyPr>
          <a:lstStyle/>
          <a:p>
            <a:pPr marL="0" lvl="0" indent="0" algn="l" rtl="0">
              <a:spcBef>
                <a:spcPts val="0"/>
              </a:spcBef>
              <a:spcAft>
                <a:spcPts val="0"/>
              </a:spcAft>
              <a:buNone/>
            </a:pPr>
            <a:endParaRPr sz="2001"/>
          </a:p>
        </p:txBody>
      </p:sp>
      <p:sp>
        <p:nvSpPr>
          <p:cNvPr id="177" name="Google Shape;177;p16"/>
          <p:cNvSpPr/>
          <p:nvPr/>
        </p:nvSpPr>
        <p:spPr>
          <a:xfrm>
            <a:off x="4717388" y="4052698"/>
            <a:ext cx="1244700" cy="17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{{KPI_heading_4}}</a:t>
            </a:r>
            <a:endParaRPr sz="843" b="0" i="0" u="none" strike="noStrike" cap="none">
              <a:solidFill>
                <a:srgbClr val="000000"/>
              </a:solidFill>
              <a:latin typeface="Calibri"/>
              <a:ea typeface="Calibri"/>
              <a:cs typeface="Calibri"/>
              <a:sym typeface="Calibri"/>
            </a:endParaRPr>
          </a:p>
        </p:txBody>
      </p:sp>
      <p:sp>
        <p:nvSpPr>
          <p:cNvPr id="178" name="Google Shape;178;p16"/>
          <p:cNvSpPr/>
          <p:nvPr/>
        </p:nvSpPr>
        <p:spPr>
          <a:xfrm>
            <a:off x="4680087" y="4243526"/>
            <a:ext cx="1293000" cy="30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885"/>
              <a:buFont typeface="Calibri"/>
              <a:buNone/>
            </a:pPr>
            <a:r>
              <a:rPr lang="en-GB" sz="1542" b="1">
                <a:solidFill>
                  <a:srgbClr val="1F4690"/>
                </a:solidFill>
                <a:latin typeface="Calibri"/>
                <a:ea typeface="Calibri"/>
                <a:cs typeface="Calibri"/>
                <a:sym typeface="Calibri"/>
              </a:rPr>
              <a:t>{{KPI_4}}</a:t>
            </a:r>
            <a:endParaRPr sz="1542" b="0" i="0" u="none" strike="noStrike" cap="none">
              <a:solidFill>
                <a:srgbClr val="000000"/>
              </a:solidFill>
              <a:latin typeface="Calibri"/>
              <a:ea typeface="Calibri"/>
              <a:cs typeface="Calibri"/>
              <a:sym typeface="Calibri"/>
            </a:endParaRPr>
          </a:p>
        </p:txBody>
      </p:sp>
      <p:sp>
        <p:nvSpPr>
          <p:cNvPr id="179" name="Google Shape;179;p16"/>
          <p:cNvSpPr/>
          <p:nvPr/>
        </p:nvSpPr>
        <p:spPr>
          <a:xfrm>
            <a:off x="6102688" y="3990888"/>
            <a:ext cx="1436400" cy="711000"/>
          </a:xfrm>
          <a:prstGeom prst="rect">
            <a:avLst/>
          </a:prstGeom>
          <a:solidFill>
            <a:srgbClr val="3A5BA0">
              <a:alpha val="24530"/>
            </a:srgbClr>
          </a:solidFill>
          <a:ln w="9975" cap="flat" cmpd="sng">
            <a:solidFill>
              <a:srgbClr val="D1D5DB"/>
            </a:solidFill>
            <a:prstDash val="solid"/>
            <a:round/>
            <a:headEnd type="none" w="sm" len="sm"/>
            <a:tailEnd type="none" w="sm" len="sm"/>
          </a:ln>
          <a:effectLst>
            <a:outerShdw blurRad="106397" dist="26599" dir="8100000" algn="bl" rotWithShape="0">
              <a:srgbClr val="000000">
                <a:alpha val="10200"/>
              </a:srgbClr>
            </a:outerShdw>
          </a:effectLst>
        </p:spPr>
        <p:txBody>
          <a:bodyPr spcFirstLastPara="1" wrap="square" lIns="95775" tIns="95775" rIns="95775" bIns="95775" anchor="ctr" anchorCtr="0">
            <a:noAutofit/>
          </a:bodyPr>
          <a:lstStyle/>
          <a:p>
            <a:pPr marL="0" lvl="0" indent="0" algn="l" rtl="0">
              <a:spcBef>
                <a:spcPts val="0"/>
              </a:spcBef>
              <a:spcAft>
                <a:spcPts val="0"/>
              </a:spcAft>
              <a:buNone/>
            </a:pPr>
            <a:endParaRPr sz="2001"/>
          </a:p>
        </p:txBody>
      </p:sp>
      <p:sp>
        <p:nvSpPr>
          <p:cNvPr id="180" name="Google Shape;180;p16"/>
          <p:cNvSpPr/>
          <p:nvPr/>
        </p:nvSpPr>
        <p:spPr>
          <a:xfrm>
            <a:off x="6216594" y="4052698"/>
            <a:ext cx="1244700" cy="17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{{KPI_heading_5}}</a:t>
            </a:r>
            <a:endParaRPr sz="843" b="0" i="0" u="none" strike="noStrike" cap="none">
              <a:solidFill>
                <a:srgbClr val="000000"/>
              </a:solidFill>
              <a:latin typeface="Calibri"/>
              <a:ea typeface="Calibri"/>
              <a:cs typeface="Calibri"/>
              <a:sym typeface="Calibri"/>
            </a:endParaRPr>
          </a:p>
        </p:txBody>
      </p:sp>
      <p:sp>
        <p:nvSpPr>
          <p:cNvPr id="181" name="Google Shape;181;p16"/>
          <p:cNvSpPr/>
          <p:nvPr/>
        </p:nvSpPr>
        <p:spPr>
          <a:xfrm>
            <a:off x="6179293" y="4243526"/>
            <a:ext cx="1293000" cy="30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885"/>
              <a:buFont typeface="Calibri"/>
              <a:buNone/>
            </a:pPr>
            <a:r>
              <a:rPr lang="en-GB" sz="1542" b="1">
                <a:solidFill>
                  <a:srgbClr val="1F4690"/>
                </a:solidFill>
                <a:latin typeface="Calibri"/>
                <a:ea typeface="Calibri"/>
                <a:cs typeface="Calibri"/>
                <a:sym typeface="Calibri"/>
              </a:rPr>
              <a:t>{{KPI_5}}</a:t>
            </a:r>
            <a:endParaRPr sz="1542" b="0" i="0" u="none" strike="noStrike" cap="none">
              <a:solidFill>
                <a:srgbClr val="000000"/>
              </a:solidFill>
              <a:latin typeface="Calibri"/>
              <a:ea typeface="Calibri"/>
              <a:cs typeface="Calibri"/>
              <a:sym typeface="Calibri"/>
            </a:endParaRPr>
          </a:p>
        </p:txBody>
      </p:sp>
      <p:sp>
        <p:nvSpPr>
          <p:cNvPr id="182" name="Google Shape;182;p16"/>
          <p:cNvSpPr/>
          <p:nvPr/>
        </p:nvSpPr>
        <p:spPr>
          <a:xfrm>
            <a:off x="7601895" y="3990888"/>
            <a:ext cx="1436400" cy="711000"/>
          </a:xfrm>
          <a:prstGeom prst="rect">
            <a:avLst/>
          </a:prstGeom>
          <a:solidFill>
            <a:srgbClr val="FFE5B4"/>
          </a:solidFill>
          <a:ln w="9975" cap="flat" cmpd="sng">
            <a:solidFill>
              <a:srgbClr val="D1D5DB"/>
            </a:solidFill>
            <a:prstDash val="solid"/>
            <a:round/>
            <a:headEnd type="none" w="sm" len="sm"/>
            <a:tailEnd type="none" w="sm" len="sm"/>
          </a:ln>
          <a:effectLst>
            <a:outerShdw blurRad="106397" dist="26599" dir="8100000" algn="bl" rotWithShape="0">
              <a:srgbClr val="000000">
                <a:alpha val="10200"/>
              </a:srgbClr>
            </a:outerShdw>
          </a:effectLst>
        </p:spPr>
        <p:txBody>
          <a:bodyPr spcFirstLastPara="1" wrap="square" lIns="95775" tIns="95775" rIns="95775" bIns="95775" anchor="ctr" anchorCtr="0">
            <a:noAutofit/>
          </a:bodyPr>
          <a:lstStyle/>
          <a:p>
            <a:pPr marL="0" lvl="0" indent="0" algn="l" rtl="0">
              <a:spcBef>
                <a:spcPts val="0"/>
              </a:spcBef>
              <a:spcAft>
                <a:spcPts val="0"/>
              </a:spcAft>
              <a:buNone/>
            </a:pPr>
            <a:endParaRPr sz="2001"/>
          </a:p>
        </p:txBody>
      </p:sp>
      <p:sp>
        <p:nvSpPr>
          <p:cNvPr id="183" name="Google Shape;183;p16"/>
          <p:cNvSpPr/>
          <p:nvPr/>
        </p:nvSpPr>
        <p:spPr>
          <a:xfrm>
            <a:off x="7715801" y="4052698"/>
            <a:ext cx="1244700" cy="17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838"/>
              <a:buFont typeface="Calibri"/>
              <a:buNone/>
            </a:pPr>
            <a:r>
              <a:rPr lang="en-GB" sz="843">
                <a:solidFill>
                  <a:srgbClr val="64748B"/>
                </a:solidFill>
                <a:latin typeface="Calibri"/>
                <a:ea typeface="Calibri"/>
                <a:cs typeface="Calibri"/>
                <a:sym typeface="Calibri"/>
              </a:rPr>
              <a:t>{{KPI_heading_6}}</a:t>
            </a:r>
            <a:endParaRPr sz="843" b="0" i="0" u="none" strike="noStrike" cap="none">
              <a:solidFill>
                <a:srgbClr val="000000"/>
              </a:solidFill>
              <a:latin typeface="Calibri"/>
              <a:ea typeface="Calibri"/>
              <a:cs typeface="Calibri"/>
              <a:sym typeface="Calibri"/>
            </a:endParaRPr>
          </a:p>
        </p:txBody>
      </p:sp>
      <p:sp>
        <p:nvSpPr>
          <p:cNvPr id="184" name="Google Shape;184;p16"/>
          <p:cNvSpPr/>
          <p:nvPr/>
        </p:nvSpPr>
        <p:spPr>
          <a:xfrm>
            <a:off x="7678500" y="4243526"/>
            <a:ext cx="1293000" cy="309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1885"/>
              <a:buFont typeface="Calibri"/>
              <a:buNone/>
            </a:pPr>
            <a:r>
              <a:rPr lang="en-GB" sz="1542" b="1">
                <a:solidFill>
                  <a:srgbClr val="1F4690"/>
                </a:solidFill>
                <a:latin typeface="Calibri"/>
                <a:ea typeface="Calibri"/>
                <a:cs typeface="Calibri"/>
                <a:sym typeface="Calibri"/>
              </a:rPr>
              <a:t>{{KPI_6}}</a:t>
            </a:r>
            <a:endParaRPr sz="1542" b="0" i="0" u="none" strike="noStrike" cap="none">
              <a:solidFill>
                <a:srgbClr val="000000"/>
              </a:solidFill>
              <a:latin typeface="Calibri"/>
              <a:ea typeface="Calibri"/>
              <a:cs typeface="Calibri"/>
              <a:sym typeface="Calibri"/>
            </a:endParaRPr>
          </a:p>
        </p:txBody>
      </p:sp>
      <p:sp>
        <p:nvSpPr>
          <p:cNvPr id="185" name="Google Shape;185;p16"/>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6"/>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187" name="Google Shape;187;p16"/>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5</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188" name="Google Shape;188;p16"/>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7"/>
          <p:cNvSpPr txBox="1">
            <a:spLocks noGrp="1"/>
          </p:cNvSpPr>
          <p:nvPr>
            <p:ph type="title"/>
          </p:nvPr>
        </p:nvSpPr>
        <p:spPr>
          <a:xfrm>
            <a:off x="0" y="0"/>
            <a:ext cx="9144000" cy="344700"/>
          </a:xfrm>
          <a:prstGeom prst="rect">
            <a:avLst/>
          </a:prstGeom>
          <a:solidFill>
            <a:srgbClr val="1F4690"/>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200"/>
              <a:buNone/>
            </a:pPr>
            <a:r>
              <a:rPr lang="en-GB" sz="1500"/>
              <a:t> COMPANY OVERVIEW</a:t>
            </a:r>
            <a:endParaRPr sz="1500"/>
          </a:p>
        </p:txBody>
      </p:sp>
      <p:sp>
        <p:nvSpPr>
          <p:cNvPr id="194" name="Google Shape;194;p17"/>
          <p:cNvSpPr/>
          <p:nvPr/>
        </p:nvSpPr>
        <p:spPr>
          <a:xfrm>
            <a:off x="0" y="299088"/>
            <a:ext cx="9144000" cy="456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7"/>
          <p:cNvSpPr/>
          <p:nvPr/>
        </p:nvSpPr>
        <p:spPr>
          <a:xfrm>
            <a:off x="110450" y="2895086"/>
            <a:ext cx="1934100" cy="1839900"/>
          </a:xfrm>
          <a:prstGeom prst="ellipse">
            <a:avLst/>
          </a:prstGeom>
          <a:solidFill>
            <a:srgbClr val="D1D5DB"/>
          </a:solidFill>
          <a:ln w="9900" cap="flat" cmpd="sng">
            <a:solidFill>
              <a:srgbClr val="000000"/>
            </a:solidFill>
            <a:prstDash val="solid"/>
            <a:round/>
            <a:headEnd type="none" w="sm" len="sm"/>
            <a:tailEnd type="none" w="sm" len="sm"/>
          </a:ln>
        </p:spPr>
        <p:txBody>
          <a:bodyPr spcFirstLastPara="1" wrap="square" lIns="95000" tIns="47500" rIns="95000" bIns="47500" anchor="ctr" anchorCtr="0">
            <a:noAutofit/>
          </a:bodyPr>
          <a:lstStyle/>
          <a:p>
            <a:pPr marL="0" lvl="0" indent="0" algn="ctr" rtl="0">
              <a:spcBef>
                <a:spcPts val="0"/>
              </a:spcBef>
              <a:spcAft>
                <a:spcPts val="0"/>
              </a:spcAft>
              <a:buNone/>
            </a:pPr>
            <a:r>
              <a:rPr lang="en-GB" sz="800"/>
              <a:t>{{percentage_revenue_pie_chart}}</a:t>
            </a:r>
            <a:endParaRPr sz="800"/>
          </a:p>
        </p:txBody>
      </p:sp>
      <p:sp>
        <p:nvSpPr>
          <p:cNvPr id="196" name="Google Shape;196;p17"/>
          <p:cNvSpPr/>
          <p:nvPr/>
        </p:nvSpPr>
        <p:spPr>
          <a:xfrm rot="522">
            <a:off x="2336610" y="2874713"/>
            <a:ext cx="1977600" cy="1895400"/>
          </a:xfrm>
          <a:prstGeom prst="ellipse">
            <a:avLst/>
          </a:prstGeom>
          <a:solidFill>
            <a:srgbClr val="D1D5DB"/>
          </a:solidFill>
          <a:ln w="9900" cap="flat" cmpd="sng">
            <a:solidFill>
              <a:srgbClr val="000000"/>
            </a:solidFill>
            <a:prstDash val="solid"/>
            <a:round/>
            <a:headEnd type="none" w="sm" len="sm"/>
            <a:tailEnd type="none" w="sm" len="sm"/>
          </a:ln>
        </p:spPr>
        <p:txBody>
          <a:bodyPr spcFirstLastPara="1" wrap="square" lIns="95000" tIns="47500" rIns="95000" bIns="47500" anchor="ctr" anchorCtr="0">
            <a:noAutofit/>
          </a:bodyPr>
          <a:lstStyle/>
          <a:p>
            <a:pPr marL="0" lvl="0" indent="0" algn="ctr" rtl="0">
              <a:spcBef>
                <a:spcPts val="0"/>
              </a:spcBef>
              <a:spcAft>
                <a:spcPts val="0"/>
              </a:spcAft>
              <a:buNone/>
            </a:pPr>
            <a:r>
              <a:rPr lang="en-GB" sz="800"/>
              <a:t>{{percentage_EBIT_pie_chart}}</a:t>
            </a:r>
            <a:endParaRPr sz="800"/>
          </a:p>
        </p:txBody>
      </p:sp>
      <p:sp>
        <p:nvSpPr>
          <p:cNvPr id="197" name="Google Shape;197;p17"/>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Company Overview</a:t>
            </a:r>
            <a:endParaRPr sz="1800" b="1">
              <a:solidFill>
                <a:schemeClr val="lt1"/>
              </a:solidFill>
              <a:latin typeface="Calibri"/>
              <a:ea typeface="Calibri"/>
              <a:cs typeface="Calibri"/>
              <a:sym typeface="Calibri"/>
            </a:endParaRPr>
          </a:p>
        </p:txBody>
      </p:sp>
      <p:sp>
        <p:nvSpPr>
          <p:cNvPr id="198" name="Google Shape;198;p17"/>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9" name="Google Shape;199;p17"/>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200" name="Google Shape;200;p17"/>
          <p:cNvSpPr/>
          <p:nvPr/>
        </p:nvSpPr>
        <p:spPr>
          <a:xfrm>
            <a:off x="110450" y="634200"/>
            <a:ext cx="51261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7"/>
          <p:cNvSpPr/>
          <p:nvPr/>
        </p:nvSpPr>
        <p:spPr>
          <a:xfrm>
            <a:off x="148175" y="676575"/>
            <a:ext cx="5043900" cy="1969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{{company_overview}}</a:t>
            </a:r>
            <a:endParaRPr sz="800" b="0" i="0" u="none" strike="noStrike" cap="none">
              <a:solidFill>
                <a:srgbClr val="000000"/>
              </a:solidFill>
              <a:latin typeface="Calibri"/>
              <a:ea typeface="Calibri"/>
              <a:cs typeface="Calibri"/>
              <a:sym typeface="Calibri"/>
            </a:endParaRPr>
          </a:p>
        </p:txBody>
      </p:sp>
      <p:sp>
        <p:nvSpPr>
          <p:cNvPr id="202" name="Google Shape;202;p17"/>
          <p:cNvSpPr txBox="1"/>
          <p:nvPr/>
        </p:nvSpPr>
        <p:spPr>
          <a:xfrm>
            <a:off x="5357347" y="993382"/>
            <a:ext cx="3714900" cy="276900"/>
          </a:xfrm>
          <a:prstGeom prst="rect">
            <a:avLst/>
          </a:prstGeom>
          <a:noFill/>
          <a:ln w="9525" cap="flat" cmpd="sng">
            <a:solidFill>
              <a:srgbClr val="FFA5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200" i="0" u="none" strike="noStrike" cap="none">
              <a:solidFill>
                <a:srgbClr val="000000"/>
              </a:solidFill>
              <a:latin typeface="Calibri"/>
              <a:ea typeface="Calibri"/>
              <a:cs typeface="Calibri"/>
              <a:sym typeface="Calibri"/>
            </a:endParaRPr>
          </a:p>
        </p:txBody>
      </p:sp>
      <p:sp>
        <p:nvSpPr>
          <p:cNvPr id="203" name="Google Shape;203;p17"/>
          <p:cNvSpPr/>
          <p:nvPr/>
        </p:nvSpPr>
        <p:spPr>
          <a:xfrm>
            <a:off x="5317450" y="638725"/>
            <a:ext cx="3750000" cy="969900"/>
          </a:xfrm>
          <a:prstGeom prst="rect">
            <a:avLst/>
          </a:prstGeom>
          <a:solidFill>
            <a:srgbClr val="1F469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4" name="Google Shape;204;p17"/>
          <p:cNvSpPr/>
          <p:nvPr/>
        </p:nvSpPr>
        <p:spPr>
          <a:xfrm>
            <a:off x="5357350" y="676573"/>
            <a:ext cx="3674400" cy="885900"/>
          </a:xfrm>
          <a:prstGeom prst="rect">
            <a:avLst/>
          </a:prstGeom>
          <a:noFill/>
          <a:ln w="9525" cap="flat" cmpd="sng">
            <a:solidFill>
              <a:srgbClr val="1F4690"/>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rgbClr val="FFFFFF"/>
                </a:solidFill>
                <a:latin typeface="Calibri"/>
                <a:ea typeface="Calibri"/>
                <a:cs typeface="Calibri"/>
                <a:sym typeface="Calibri"/>
              </a:rPr>
              <a:t>{{competitive_moat_1}}</a:t>
            </a:r>
            <a:endParaRPr sz="800">
              <a:solidFill>
                <a:srgbClr val="FFFFFF"/>
              </a:solidFill>
              <a:latin typeface="Calibri"/>
              <a:ea typeface="Calibri"/>
              <a:cs typeface="Calibri"/>
              <a:sym typeface="Calibri"/>
            </a:endParaRPr>
          </a:p>
        </p:txBody>
      </p:sp>
      <p:sp>
        <p:nvSpPr>
          <p:cNvPr id="205" name="Google Shape;205;p17"/>
          <p:cNvSpPr txBox="1"/>
          <p:nvPr/>
        </p:nvSpPr>
        <p:spPr>
          <a:xfrm>
            <a:off x="5354947" y="2085607"/>
            <a:ext cx="3714900" cy="276900"/>
          </a:xfrm>
          <a:prstGeom prst="rect">
            <a:avLst/>
          </a:prstGeom>
          <a:noFill/>
          <a:ln w="9525" cap="flat" cmpd="sng">
            <a:solidFill>
              <a:srgbClr val="FFA5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200" i="0" u="none" strike="noStrike" cap="none">
              <a:solidFill>
                <a:srgbClr val="000000"/>
              </a:solidFill>
              <a:latin typeface="Calibri"/>
              <a:ea typeface="Calibri"/>
              <a:cs typeface="Calibri"/>
              <a:sym typeface="Calibri"/>
            </a:endParaRPr>
          </a:p>
        </p:txBody>
      </p:sp>
      <p:sp>
        <p:nvSpPr>
          <p:cNvPr id="206" name="Google Shape;206;p17"/>
          <p:cNvSpPr/>
          <p:nvPr/>
        </p:nvSpPr>
        <p:spPr>
          <a:xfrm>
            <a:off x="5315050" y="1730950"/>
            <a:ext cx="3750000" cy="969900"/>
          </a:xfrm>
          <a:prstGeom prst="rect">
            <a:avLst/>
          </a:prstGeom>
          <a:solidFill>
            <a:srgbClr val="1F469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07" name="Google Shape;207;p17"/>
          <p:cNvSpPr/>
          <p:nvPr/>
        </p:nvSpPr>
        <p:spPr>
          <a:xfrm>
            <a:off x="5354950" y="1769020"/>
            <a:ext cx="3674400" cy="885900"/>
          </a:xfrm>
          <a:prstGeom prst="rect">
            <a:avLst/>
          </a:prstGeom>
          <a:noFill/>
          <a:ln w="9525" cap="flat" cmpd="sng">
            <a:solidFill>
              <a:srgbClr val="1F4690"/>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rgbClr val="FFFFFF"/>
                </a:solidFill>
                <a:latin typeface="Calibri"/>
                <a:ea typeface="Calibri"/>
                <a:cs typeface="Calibri"/>
                <a:sym typeface="Calibri"/>
              </a:rPr>
              <a:t>{{competitive_moat_2}}</a:t>
            </a:r>
            <a:endParaRPr sz="800">
              <a:solidFill>
                <a:srgbClr val="FFFFFF"/>
              </a:solidFill>
              <a:latin typeface="Calibri"/>
              <a:ea typeface="Calibri"/>
              <a:cs typeface="Calibri"/>
              <a:sym typeface="Calibri"/>
            </a:endParaRPr>
          </a:p>
        </p:txBody>
      </p:sp>
      <p:sp>
        <p:nvSpPr>
          <p:cNvPr id="208" name="Google Shape;208;p17"/>
          <p:cNvSpPr/>
          <p:nvPr/>
        </p:nvSpPr>
        <p:spPr>
          <a:xfrm>
            <a:off x="4573600" y="2818950"/>
            <a:ext cx="4498800" cy="2065200"/>
          </a:xfrm>
          <a:prstGeom prst="rect">
            <a:avLst/>
          </a:prstGeom>
          <a:solidFill>
            <a:schemeClr val="lt1"/>
          </a:solidFill>
          <a:ln w="2857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209" name="Google Shape;209;p17"/>
          <p:cNvSpPr/>
          <p:nvPr/>
        </p:nvSpPr>
        <p:spPr>
          <a:xfrm>
            <a:off x="4606250" y="2852300"/>
            <a:ext cx="4420800" cy="1989600"/>
          </a:xfrm>
          <a:prstGeom prst="rect">
            <a:avLst/>
          </a:prstGeom>
          <a:solidFill>
            <a:schemeClr val="lt1"/>
          </a:solid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b="1">
                <a:solidFill>
                  <a:schemeClr val="dk1"/>
                </a:solidFill>
                <a:latin typeface="Calibri"/>
                <a:ea typeface="Calibri"/>
                <a:cs typeface="Calibri"/>
                <a:sym typeface="Calibri"/>
              </a:rPr>
              <a:t>{{</a:t>
            </a:r>
            <a:r>
              <a:rPr lang="en-GB" sz="800">
                <a:solidFill>
                  <a:schemeClr val="dk1"/>
                </a:solidFill>
                <a:latin typeface="Calibri"/>
                <a:ea typeface="Calibri"/>
                <a:cs typeface="Calibri"/>
                <a:sym typeface="Calibri"/>
              </a:rPr>
              <a:t>key_insights</a:t>
            </a:r>
            <a:r>
              <a:rPr lang="en-GB" sz="800" b="1">
                <a:solidFill>
                  <a:schemeClr val="dk1"/>
                </a:solidFill>
                <a:latin typeface="Calibri"/>
                <a:ea typeface="Calibri"/>
                <a:cs typeface="Calibri"/>
                <a:sym typeface="Calibri"/>
              </a:rPr>
              <a:t>}}</a:t>
            </a:r>
            <a:endParaRPr sz="800" b="1">
              <a:solidFill>
                <a:schemeClr val="dk1"/>
              </a:solidFill>
              <a:latin typeface="Calibri"/>
              <a:ea typeface="Calibri"/>
              <a:cs typeface="Calibri"/>
              <a:sym typeface="Calibri"/>
            </a:endParaRPr>
          </a:p>
        </p:txBody>
      </p:sp>
      <p:sp>
        <p:nvSpPr>
          <p:cNvPr id="210" name="Google Shape;210;p17"/>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7"/>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212" name="Google Shape;212;p17"/>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6</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213" name="Google Shape;213;p17"/>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8"/>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1800"/>
              <a:t>Company Timeline</a:t>
            </a:r>
            <a:endParaRPr sz="1800"/>
          </a:p>
        </p:txBody>
      </p:sp>
      <p:sp>
        <p:nvSpPr>
          <p:cNvPr id="219" name="Google Shape;219;p18"/>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8"/>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8"/>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222" name="Google Shape;222;p18"/>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7</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223" name="Google Shape;223;p18"/>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224" name="Google Shape;224;p18"/>
          <p:cNvSpPr/>
          <p:nvPr/>
        </p:nvSpPr>
        <p:spPr>
          <a:xfrm>
            <a:off x="95800" y="638725"/>
            <a:ext cx="8976300" cy="42381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{{company_timeline}}</a:t>
            </a:r>
            <a:endParaRPr sz="800"/>
          </a:p>
        </p:txBody>
      </p:sp>
      <p:pic>
        <p:nvPicPr>
          <p:cNvPr id="225" name="Google Shape;225;p18"/>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9"/>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sz="1800"/>
              <a:t>Business Model</a:t>
            </a:r>
            <a:endParaRPr sz="1800"/>
          </a:p>
        </p:txBody>
      </p:sp>
      <p:sp>
        <p:nvSpPr>
          <p:cNvPr id="231" name="Google Shape;231;p19"/>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2" name="Google Shape;232;p19"/>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233" name="Google Shape;233;p19"/>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9"/>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235" name="Google Shape;235;p19"/>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8</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236" name="Google Shape;236;p19"/>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237" name="Google Shape;237;p19"/>
          <p:cNvSpPr/>
          <p:nvPr/>
        </p:nvSpPr>
        <p:spPr>
          <a:xfrm>
            <a:off x="110450" y="634200"/>
            <a:ext cx="29379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9"/>
          <p:cNvSpPr/>
          <p:nvPr/>
        </p:nvSpPr>
        <p:spPr>
          <a:xfrm>
            <a:off x="149213" y="673300"/>
            <a:ext cx="2858100" cy="1990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{{business_model_1}}</a:t>
            </a:r>
            <a:endParaRPr sz="800" b="0" i="0" u="none" strike="noStrike" cap="none">
              <a:solidFill>
                <a:srgbClr val="000000"/>
              </a:solidFill>
              <a:latin typeface="Calibri"/>
              <a:ea typeface="Calibri"/>
              <a:cs typeface="Calibri"/>
              <a:sym typeface="Calibri"/>
            </a:endParaRPr>
          </a:p>
        </p:txBody>
      </p:sp>
      <p:sp>
        <p:nvSpPr>
          <p:cNvPr id="239" name="Google Shape;239;p19"/>
          <p:cNvSpPr/>
          <p:nvPr/>
        </p:nvSpPr>
        <p:spPr>
          <a:xfrm>
            <a:off x="110450" y="2795131"/>
            <a:ext cx="29379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9"/>
          <p:cNvSpPr/>
          <p:nvPr/>
        </p:nvSpPr>
        <p:spPr>
          <a:xfrm>
            <a:off x="3122251" y="636763"/>
            <a:ext cx="29379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p:nvPr/>
        </p:nvSpPr>
        <p:spPr>
          <a:xfrm>
            <a:off x="3122251" y="2797694"/>
            <a:ext cx="29379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9"/>
          <p:cNvSpPr/>
          <p:nvPr/>
        </p:nvSpPr>
        <p:spPr>
          <a:xfrm>
            <a:off x="6134052" y="636750"/>
            <a:ext cx="29379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9"/>
          <p:cNvSpPr/>
          <p:nvPr/>
        </p:nvSpPr>
        <p:spPr>
          <a:xfrm>
            <a:off x="6134052" y="2797681"/>
            <a:ext cx="2937900" cy="20652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3173875" y="675400"/>
            <a:ext cx="2858100" cy="1990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{{business_model_2}}</a:t>
            </a:r>
            <a:endParaRPr sz="800" b="0" i="0" u="none" strike="noStrike" cap="none">
              <a:solidFill>
                <a:srgbClr val="000000"/>
              </a:solidFill>
              <a:latin typeface="Calibri"/>
              <a:ea typeface="Calibri"/>
              <a:cs typeface="Calibri"/>
              <a:sym typeface="Calibri"/>
            </a:endParaRPr>
          </a:p>
        </p:txBody>
      </p:sp>
      <p:sp>
        <p:nvSpPr>
          <p:cNvPr id="245" name="Google Shape;245;p19"/>
          <p:cNvSpPr/>
          <p:nvPr/>
        </p:nvSpPr>
        <p:spPr>
          <a:xfrm>
            <a:off x="6175063" y="680938"/>
            <a:ext cx="2858100" cy="1990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{{business_model_3}}</a:t>
            </a:r>
            <a:endParaRPr sz="800" b="0" i="0" u="none" strike="noStrike" cap="none">
              <a:solidFill>
                <a:srgbClr val="000000"/>
              </a:solidFill>
              <a:latin typeface="Calibri"/>
              <a:ea typeface="Calibri"/>
              <a:cs typeface="Calibri"/>
              <a:sym typeface="Calibri"/>
            </a:endParaRPr>
          </a:p>
        </p:txBody>
      </p:sp>
      <p:sp>
        <p:nvSpPr>
          <p:cNvPr id="246" name="Google Shape;246;p19"/>
          <p:cNvSpPr/>
          <p:nvPr/>
        </p:nvSpPr>
        <p:spPr>
          <a:xfrm>
            <a:off x="149213" y="2832475"/>
            <a:ext cx="2858100" cy="1990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{{business_model_4}}</a:t>
            </a:r>
            <a:endParaRPr sz="800" b="0" i="0" u="none" strike="noStrike" cap="none">
              <a:solidFill>
                <a:srgbClr val="000000"/>
              </a:solidFill>
              <a:latin typeface="Calibri"/>
              <a:ea typeface="Calibri"/>
              <a:cs typeface="Calibri"/>
              <a:sym typeface="Calibri"/>
            </a:endParaRPr>
          </a:p>
        </p:txBody>
      </p:sp>
      <p:sp>
        <p:nvSpPr>
          <p:cNvPr id="247" name="Google Shape;247;p19"/>
          <p:cNvSpPr/>
          <p:nvPr/>
        </p:nvSpPr>
        <p:spPr>
          <a:xfrm>
            <a:off x="3162138" y="2833763"/>
            <a:ext cx="2858100" cy="1990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{{business_model_5}}</a:t>
            </a:r>
            <a:endParaRPr sz="800" b="0" i="0" u="none" strike="noStrike" cap="none">
              <a:solidFill>
                <a:srgbClr val="000000"/>
              </a:solidFill>
              <a:latin typeface="Calibri"/>
              <a:ea typeface="Calibri"/>
              <a:cs typeface="Calibri"/>
              <a:sym typeface="Calibri"/>
            </a:endParaRPr>
          </a:p>
        </p:txBody>
      </p:sp>
      <p:sp>
        <p:nvSpPr>
          <p:cNvPr id="248" name="Google Shape;248;p19"/>
          <p:cNvSpPr/>
          <p:nvPr/>
        </p:nvSpPr>
        <p:spPr>
          <a:xfrm>
            <a:off x="6175063" y="2833750"/>
            <a:ext cx="2858100" cy="19905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{{business_model_6}}</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0"/>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1800"/>
              <a:t>Competitive Advantage</a:t>
            </a:r>
            <a:endParaRPr sz="1800"/>
          </a:p>
        </p:txBody>
      </p:sp>
      <p:sp>
        <p:nvSpPr>
          <p:cNvPr id="254" name="Google Shape;254;p20"/>
          <p:cNvSpPr/>
          <p:nvPr/>
        </p:nvSpPr>
        <p:spPr>
          <a:xfrm>
            <a:off x="234875" y="3987450"/>
            <a:ext cx="4007400" cy="905400"/>
          </a:xfrm>
          <a:prstGeom prst="rect">
            <a:avLst/>
          </a:prstGeom>
          <a:solidFill>
            <a:schemeClr val="lt1"/>
          </a:solid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endParaRPr sz="950" b="1">
              <a:solidFill>
                <a:srgbClr val="FFFFFF"/>
              </a:solidFill>
              <a:latin typeface="Calibri"/>
              <a:ea typeface="Calibri"/>
              <a:cs typeface="Calibri"/>
              <a:sym typeface="Calibri"/>
            </a:endParaRPr>
          </a:p>
        </p:txBody>
      </p:sp>
      <p:sp>
        <p:nvSpPr>
          <p:cNvPr id="255" name="Google Shape;255;p20"/>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6" name="Google Shape;256;p20"/>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257" name="Google Shape;257;p20"/>
          <p:cNvSpPr txBox="1"/>
          <p:nvPr/>
        </p:nvSpPr>
        <p:spPr>
          <a:xfrm>
            <a:off x="128588" y="2215044"/>
            <a:ext cx="40539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200" i="0" u="none" strike="noStrike" cap="none">
              <a:solidFill>
                <a:srgbClr val="000000"/>
              </a:solidFill>
              <a:latin typeface="Calibri"/>
              <a:ea typeface="Calibri"/>
              <a:cs typeface="Calibri"/>
              <a:sym typeface="Calibri"/>
            </a:endParaRPr>
          </a:p>
        </p:txBody>
      </p:sp>
      <p:sp>
        <p:nvSpPr>
          <p:cNvPr id="258" name="Google Shape;258;p20"/>
          <p:cNvSpPr/>
          <p:nvPr/>
        </p:nvSpPr>
        <p:spPr>
          <a:xfrm>
            <a:off x="85050" y="638725"/>
            <a:ext cx="4092300" cy="4207800"/>
          </a:xfrm>
          <a:prstGeom prst="rect">
            <a:avLst/>
          </a:prstGeom>
          <a:solidFill>
            <a:schemeClr val="lt1"/>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59" name="Google Shape;259;p20"/>
          <p:cNvSpPr/>
          <p:nvPr/>
        </p:nvSpPr>
        <p:spPr>
          <a:xfrm>
            <a:off x="128600" y="1026900"/>
            <a:ext cx="4009800" cy="37707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{{competitive_advantage}}</a:t>
            </a:r>
            <a:endParaRPr sz="800">
              <a:solidFill>
                <a:schemeClr val="dk1"/>
              </a:solidFill>
              <a:latin typeface="Calibri"/>
              <a:ea typeface="Calibri"/>
              <a:cs typeface="Calibri"/>
              <a:sym typeface="Calibri"/>
            </a:endParaRPr>
          </a:p>
        </p:txBody>
      </p:sp>
      <p:sp>
        <p:nvSpPr>
          <p:cNvPr id="260" name="Google Shape;260;p20"/>
          <p:cNvSpPr/>
          <p:nvPr/>
        </p:nvSpPr>
        <p:spPr>
          <a:xfrm>
            <a:off x="4242275" y="638725"/>
            <a:ext cx="4830000" cy="20538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{{peer_comparison_chart_1}}</a:t>
            </a:r>
            <a:endParaRPr sz="800"/>
          </a:p>
        </p:txBody>
      </p:sp>
      <p:sp>
        <p:nvSpPr>
          <p:cNvPr id="261" name="Google Shape;261;p20"/>
          <p:cNvSpPr/>
          <p:nvPr/>
        </p:nvSpPr>
        <p:spPr>
          <a:xfrm>
            <a:off x="4242275" y="2797388"/>
            <a:ext cx="4830000" cy="20538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GB" sz="800">
                <a:solidFill>
                  <a:schemeClr val="dk1"/>
                </a:solidFill>
              </a:rPr>
              <a:t>{{peer_comparison_chart_2}}</a:t>
            </a:r>
            <a:endParaRPr sz="800"/>
          </a:p>
        </p:txBody>
      </p:sp>
      <p:sp>
        <p:nvSpPr>
          <p:cNvPr id="262" name="Google Shape;262;p20"/>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0"/>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264" name="Google Shape;264;p20"/>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9</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265" name="Google Shape;265;p20"/>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266" name="Google Shape;266;p20"/>
          <p:cNvSpPr/>
          <p:nvPr/>
        </p:nvSpPr>
        <p:spPr>
          <a:xfrm>
            <a:off x="85050" y="622925"/>
            <a:ext cx="4092300" cy="3474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67" name="Google Shape;267;p20"/>
          <p:cNvSpPr/>
          <p:nvPr/>
        </p:nvSpPr>
        <p:spPr>
          <a:xfrm>
            <a:off x="182875" y="655800"/>
            <a:ext cx="39555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FFFFFF"/>
                </a:solidFill>
                <a:latin typeface="Calibri"/>
                <a:ea typeface="Calibri"/>
                <a:cs typeface="Calibri"/>
                <a:sym typeface="Calibri"/>
              </a:rPr>
              <a:t>{{competitive_advantage_heading}}</a:t>
            </a:r>
            <a:endParaRPr sz="1200" b="1">
              <a:solidFill>
                <a:srgbClr val="FFFFFF"/>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1"/>
          <p:cNvSpPr txBox="1">
            <a:spLocks noGrp="1"/>
          </p:cNvSpPr>
          <p:nvPr>
            <p:ph type="title"/>
          </p:nvPr>
        </p:nvSpPr>
        <p:spPr>
          <a:xfrm>
            <a:off x="0" y="0"/>
            <a:ext cx="9144000" cy="543600"/>
          </a:xfrm>
          <a:prstGeom prst="rect">
            <a:avLst/>
          </a:prstGeom>
          <a:solidFill>
            <a:srgbClr val="1F4690"/>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2200"/>
              <a:buNone/>
            </a:pPr>
            <a:r>
              <a:rPr lang="en-GB" sz="1800"/>
              <a:t>Growth Catalysts &amp; Timeline</a:t>
            </a:r>
            <a:endParaRPr sz="1800"/>
          </a:p>
        </p:txBody>
      </p:sp>
      <p:sp>
        <p:nvSpPr>
          <p:cNvPr id="273" name="Google Shape;273;p21"/>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4" name="Google Shape;274;p21"/>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275" name="Google Shape;275;p21"/>
          <p:cNvSpPr/>
          <p:nvPr/>
        </p:nvSpPr>
        <p:spPr>
          <a:xfrm>
            <a:off x="4242275" y="2433225"/>
            <a:ext cx="4830000" cy="24177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solidFill>
                  <a:schemeClr val="dk1"/>
                </a:solidFill>
              </a:rPr>
              <a:t>{{catalyst_timeline_chart}}</a:t>
            </a:r>
            <a:endParaRPr sz="800"/>
          </a:p>
        </p:txBody>
      </p:sp>
      <p:sp>
        <p:nvSpPr>
          <p:cNvPr id="276" name="Google Shape;276;p21"/>
          <p:cNvSpPr txBox="1"/>
          <p:nvPr/>
        </p:nvSpPr>
        <p:spPr>
          <a:xfrm>
            <a:off x="128588" y="2215044"/>
            <a:ext cx="40539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200" i="0" u="none" strike="noStrike" cap="none">
              <a:solidFill>
                <a:srgbClr val="000000"/>
              </a:solidFill>
              <a:latin typeface="Calibri"/>
              <a:ea typeface="Calibri"/>
              <a:cs typeface="Calibri"/>
              <a:sym typeface="Calibri"/>
            </a:endParaRPr>
          </a:p>
        </p:txBody>
      </p:sp>
      <p:sp>
        <p:nvSpPr>
          <p:cNvPr id="277" name="Google Shape;277;p21"/>
          <p:cNvSpPr/>
          <p:nvPr/>
        </p:nvSpPr>
        <p:spPr>
          <a:xfrm>
            <a:off x="85050" y="638725"/>
            <a:ext cx="4092300" cy="4207800"/>
          </a:xfrm>
          <a:prstGeom prst="rect">
            <a:avLst/>
          </a:prstGeom>
          <a:solidFill>
            <a:srgbClr val="FFE5B4"/>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78" name="Google Shape;278;p21"/>
          <p:cNvSpPr/>
          <p:nvPr/>
        </p:nvSpPr>
        <p:spPr>
          <a:xfrm>
            <a:off x="128600" y="1026900"/>
            <a:ext cx="3999000" cy="37737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{{investment_thesis_detailed}}</a:t>
            </a:r>
            <a:endParaRPr sz="800">
              <a:solidFill>
                <a:schemeClr val="dk1"/>
              </a:solidFill>
              <a:latin typeface="Calibri"/>
              <a:ea typeface="Calibri"/>
              <a:cs typeface="Calibri"/>
              <a:sym typeface="Calibri"/>
            </a:endParaRPr>
          </a:p>
        </p:txBody>
      </p:sp>
      <p:sp>
        <p:nvSpPr>
          <p:cNvPr id="279" name="Google Shape;279;p21"/>
          <p:cNvSpPr/>
          <p:nvPr/>
        </p:nvSpPr>
        <p:spPr>
          <a:xfrm>
            <a:off x="4242275" y="638725"/>
            <a:ext cx="4823700" cy="1713900"/>
          </a:xfrm>
          <a:prstGeom prst="rect">
            <a:avLst/>
          </a:prstGeom>
          <a:solidFill>
            <a:srgbClr val="1F469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0" name="Google Shape;280;p21"/>
          <p:cNvSpPr/>
          <p:nvPr/>
        </p:nvSpPr>
        <p:spPr>
          <a:xfrm>
            <a:off x="4294725" y="683675"/>
            <a:ext cx="4730700" cy="1620000"/>
          </a:xfrm>
          <a:prstGeom prst="rect">
            <a:avLst/>
          </a:prstGeom>
          <a:noFill/>
          <a:ln w="9525" cap="flat" cmpd="sng">
            <a:solidFill>
              <a:srgbClr val="1F4690"/>
            </a:solidFill>
            <a:prstDash val="solid"/>
            <a:round/>
            <a:headEnd type="none" w="sm" len="sm"/>
            <a:tailEnd type="none" w="sm" len="sm"/>
          </a:ln>
        </p:spPr>
        <p:txBody>
          <a:bodyPr spcFirstLastPara="1" wrap="square" lIns="45700" tIns="45700" rIns="45700" bIns="45700" anchor="t" anchorCtr="0">
            <a:noAutofit/>
          </a:bodyPr>
          <a:lstStyle/>
          <a:p>
            <a:pPr marL="0" marR="0" lvl="0" indent="0" algn="just" rtl="0">
              <a:spcBef>
                <a:spcPts val="0"/>
              </a:spcBef>
              <a:spcAft>
                <a:spcPts val="0"/>
              </a:spcAft>
              <a:buClr>
                <a:srgbClr val="FFFFFF"/>
              </a:buClr>
              <a:buSzPts val="1400"/>
              <a:buFont typeface="Calibri"/>
              <a:buNone/>
            </a:pPr>
            <a:r>
              <a:rPr lang="en-GB" sz="800">
                <a:solidFill>
                  <a:srgbClr val="FFFFFF"/>
                </a:solidFill>
                <a:latin typeface="Calibri"/>
                <a:ea typeface="Calibri"/>
                <a:cs typeface="Calibri"/>
                <a:sym typeface="Calibri"/>
              </a:rPr>
              <a:t>{{key_catalyst}}</a:t>
            </a:r>
            <a:endParaRPr sz="800">
              <a:solidFill>
                <a:srgbClr val="FFFFFF"/>
              </a:solidFill>
              <a:latin typeface="Calibri"/>
              <a:ea typeface="Calibri"/>
              <a:cs typeface="Calibri"/>
              <a:sym typeface="Calibri"/>
            </a:endParaRPr>
          </a:p>
        </p:txBody>
      </p:sp>
      <p:sp>
        <p:nvSpPr>
          <p:cNvPr id="281" name="Google Shape;281;p21"/>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1"/>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283" name="Google Shape;283;p21"/>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10</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284" name="Google Shape;284;p21"/>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285" name="Google Shape;285;p21"/>
          <p:cNvSpPr/>
          <p:nvPr/>
        </p:nvSpPr>
        <p:spPr>
          <a:xfrm>
            <a:off x="85050" y="622925"/>
            <a:ext cx="4092300" cy="3474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86" name="Google Shape;286;p21"/>
          <p:cNvSpPr/>
          <p:nvPr/>
        </p:nvSpPr>
        <p:spPr>
          <a:xfrm>
            <a:off x="182875" y="655800"/>
            <a:ext cx="39555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FFFFFF"/>
                </a:solidFill>
                <a:latin typeface="Calibri"/>
                <a:ea typeface="Calibri"/>
                <a:cs typeface="Calibri"/>
                <a:sym typeface="Calibri"/>
              </a:rPr>
              <a:t>{{investment_thesis_detailed_heading}}</a:t>
            </a:r>
            <a:endParaRPr sz="1200" b="1">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2"/>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Management Commentary and Business Traction</a:t>
            </a:r>
            <a:endParaRPr sz="1800"/>
          </a:p>
        </p:txBody>
      </p:sp>
      <p:sp>
        <p:nvSpPr>
          <p:cNvPr id="292" name="Google Shape;292;p22"/>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3" name="Google Shape;293;p22"/>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294" name="Google Shape;294;p22"/>
          <p:cNvSpPr/>
          <p:nvPr/>
        </p:nvSpPr>
        <p:spPr>
          <a:xfrm>
            <a:off x="210600" y="664117"/>
            <a:ext cx="43137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295" name="Google Shape;295;p22"/>
          <p:cNvSpPr/>
          <p:nvPr/>
        </p:nvSpPr>
        <p:spPr>
          <a:xfrm>
            <a:off x="261155" y="995718"/>
            <a:ext cx="42081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{{management_content_1}}</a:t>
            </a:r>
            <a:endParaRPr sz="800">
              <a:solidFill>
                <a:schemeClr val="dk1"/>
              </a:solidFill>
              <a:latin typeface="Calibri"/>
              <a:ea typeface="Calibri"/>
              <a:cs typeface="Calibri"/>
              <a:sym typeface="Calibri"/>
            </a:endParaRPr>
          </a:p>
        </p:txBody>
      </p:sp>
      <p:sp>
        <p:nvSpPr>
          <p:cNvPr id="296" name="Google Shape;296;p22"/>
          <p:cNvSpPr/>
          <p:nvPr/>
        </p:nvSpPr>
        <p:spPr>
          <a:xfrm>
            <a:off x="210408" y="662350"/>
            <a:ext cx="43137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2"/>
          <p:cNvSpPr/>
          <p:nvPr/>
        </p:nvSpPr>
        <p:spPr>
          <a:xfrm>
            <a:off x="261155" y="709104"/>
            <a:ext cx="32766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B3A6B"/>
                </a:solidFill>
                <a:latin typeface="Calibri"/>
                <a:ea typeface="Calibri"/>
                <a:cs typeface="Calibri"/>
                <a:sym typeface="Calibri"/>
              </a:rPr>
              <a:t>{{management_commentry_heading_1}}</a:t>
            </a:r>
            <a:endParaRPr sz="1200" b="1">
              <a:solidFill>
                <a:srgbClr val="1B3A6B"/>
              </a:solidFill>
              <a:latin typeface="Calibri"/>
              <a:ea typeface="Calibri"/>
              <a:cs typeface="Calibri"/>
              <a:sym typeface="Calibri"/>
            </a:endParaRPr>
          </a:p>
        </p:txBody>
      </p:sp>
      <p:sp>
        <p:nvSpPr>
          <p:cNvPr id="298" name="Google Shape;298;p22"/>
          <p:cNvSpPr/>
          <p:nvPr/>
        </p:nvSpPr>
        <p:spPr>
          <a:xfrm>
            <a:off x="208467" y="1719719"/>
            <a:ext cx="43137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299" name="Google Shape;299;p22"/>
          <p:cNvSpPr/>
          <p:nvPr/>
        </p:nvSpPr>
        <p:spPr>
          <a:xfrm>
            <a:off x="259022" y="2051320"/>
            <a:ext cx="42081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{{management_content_2}}</a:t>
            </a:r>
            <a:endParaRPr sz="800">
              <a:solidFill>
                <a:schemeClr val="dk1"/>
              </a:solidFill>
              <a:latin typeface="Calibri"/>
              <a:ea typeface="Calibri"/>
              <a:cs typeface="Calibri"/>
              <a:sym typeface="Calibri"/>
            </a:endParaRPr>
          </a:p>
        </p:txBody>
      </p:sp>
      <p:sp>
        <p:nvSpPr>
          <p:cNvPr id="300" name="Google Shape;300;p22"/>
          <p:cNvSpPr/>
          <p:nvPr/>
        </p:nvSpPr>
        <p:spPr>
          <a:xfrm>
            <a:off x="208275" y="1717952"/>
            <a:ext cx="43137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2"/>
          <p:cNvSpPr/>
          <p:nvPr/>
        </p:nvSpPr>
        <p:spPr>
          <a:xfrm>
            <a:off x="259022" y="1764706"/>
            <a:ext cx="32766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B3A6B"/>
                </a:solidFill>
                <a:latin typeface="Calibri"/>
                <a:ea typeface="Calibri"/>
                <a:cs typeface="Calibri"/>
                <a:sym typeface="Calibri"/>
              </a:rPr>
              <a:t>{{management_commentry_heading_2}}</a:t>
            </a:r>
            <a:endParaRPr sz="1200" b="1">
              <a:solidFill>
                <a:srgbClr val="1B3A6B"/>
              </a:solidFill>
              <a:latin typeface="Calibri"/>
              <a:ea typeface="Calibri"/>
              <a:cs typeface="Calibri"/>
              <a:sym typeface="Calibri"/>
            </a:endParaRPr>
          </a:p>
        </p:txBody>
      </p:sp>
      <p:sp>
        <p:nvSpPr>
          <p:cNvPr id="302" name="Google Shape;302;p22"/>
          <p:cNvSpPr/>
          <p:nvPr/>
        </p:nvSpPr>
        <p:spPr>
          <a:xfrm>
            <a:off x="211763" y="2793371"/>
            <a:ext cx="43137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303" name="Google Shape;303;p22"/>
          <p:cNvSpPr/>
          <p:nvPr/>
        </p:nvSpPr>
        <p:spPr>
          <a:xfrm>
            <a:off x="262318" y="3124972"/>
            <a:ext cx="42081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{{management_content_3}}</a:t>
            </a:r>
            <a:endParaRPr sz="800">
              <a:solidFill>
                <a:schemeClr val="dk1"/>
              </a:solidFill>
              <a:latin typeface="Calibri"/>
              <a:ea typeface="Calibri"/>
              <a:cs typeface="Calibri"/>
              <a:sym typeface="Calibri"/>
            </a:endParaRPr>
          </a:p>
        </p:txBody>
      </p:sp>
      <p:sp>
        <p:nvSpPr>
          <p:cNvPr id="304" name="Google Shape;304;p22"/>
          <p:cNvSpPr/>
          <p:nvPr/>
        </p:nvSpPr>
        <p:spPr>
          <a:xfrm>
            <a:off x="211571" y="2791604"/>
            <a:ext cx="43137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2"/>
          <p:cNvSpPr/>
          <p:nvPr/>
        </p:nvSpPr>
        <p:spPr>
          <a:xfrm>
            <a:off x="262318" y="2838358"/>
            <a:ext cx="32766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B3A6B"/>
                </a:solidFill>
                <a:latin typeface="Calibri"/>
                <a:ea typeface="Calibri"/>
                <a:cs typeface="Calibri"/>
                <a:sym typeface="Calibri"/>
              </a:rPr>
              <a:t>{{management_commentry_heading_3}}</a:t>
            </a:r>
            <a:endParaRPr sz="1200" b="1">
              <a:solidFill>
                <a:srgbClr val="1B3A6B"/>
              </a:solidFill>
              <a:latin typeface="Calibri"/>
              <a:ea typeface="Calibri"/>
              <a:cs typeface="Calibri"/>
              <a:sym typeface="Calibri"/>
            </a:endParaRPr>
          </a:p>
        </p:txBody>
      </p:sp>
      <p:sp>
        <p:nvSpPr>
          <p:cNvPr id="306" name="Google Shape;306;p22"/>
          <p:cNvSpPr/>
          <p:nvPr/>
        </p:nvSpPr>
        <p:spPr>
          <a:xfrm>
            <a:off x="209629" y="3848973"/>
            <a:ext cx="43137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307" name="Google Shape;307;p22"/>
          <p:cNvSpPr/>
          <p:nvPr/>
        </p:nvSpPr>
        <p:spPr>
          <a:xfrm>
            <a:off x="260184" y="4180574"/>
            <a:ext cx="42081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{{management_content_4}}</a:t>
            </a:r>
            <a:endParaRPr sz="800">
              <a:solidFill>
                <a:schemeClr val="dk1"/>
              </a:solidFill>
              <a:latin typeface="Calibri"/>
              <a:ea typeface="Calibri"/>
              <a:cs typeface="Calibri"/>
              <a:sym typeface="Calibri"/>
            </a:endParaRPr>
          </a:p>
        </p:txBody>
      </p:sp>
      <p:sp>
        <p:nvSpPr>
          <p:cNvPr id="308" name="Google Shape;308;p22"/>
          <p:cNvSpPr/>
          <p:nvPr/>
        </p:nvSpPr>
        <p:spPr>
          <a:xfrm>
            <a:off x="209438" y="3847206"/>
            <a:ext cx="43137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2"/>
          <p:cNvSpPr/>
          <p:nvPr/>
        </p:nvSpPr>
        <p:spPr>
          <a:xfrm>
            <a:off x="260184" y="3893960"/>
            <a:ext cx="32766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rgbClr val="1B3A6B"/>
                </a:solidFill>
                <a:latin typeface="Calibri"/>
                <a:ea typeface="Calibri"/>
                <a:cs typeface="Calibri"/>
                <a:sym typeface="Calibri"/>
              </a:rPr>
              <a:t>{{management_commentry_heading_4}}</a:t>
            </a:r>
            <a:endParaRPr sz="1200" b="1">
              <a:solidFill>
                <a:srgbClr val="1B3A6B"/>
              </a:solidFill>
              <a:latin typeface="Calibri"/>
              <a:ea typeface="Calibri"/>
              <a:cs typeface="Calibri"/>
              <a:sym typeface="Calibri"/>
            </a:endParaRPr>
          </a:p>
        </p:txBody>
      </p:sp>
      <p:sp>
        <p:nvSpPr>
          <p:cNvPr id="310" name="Google Shape;310;p22"/>
          <p:cNvSpPr/>
          <p:nvPr/>
        </p:nvSpPr>
        <p:spPr>
          <a:xfrm>
            <a:off x="4617500" y="666129"/>
            <a:ext cx="4313700" cy="944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endParaRPr>
          </a:p>
        </p:txBody>
      </p:sp>
      <p:sp>
        <p:nvSpPr>
          <p:cNvPr id="311" name="Google Shape;311;p22"/>
          <p:cNvSpPr/>
          <p:nvPr/>
        </p:nvSpPr>
        <p:spPr>
          <a:xfrm>
            <a:off x="4668050" y="997725"/>
            <a:ext cx="4208100" cy="56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{{management_content_5}}</a:t>
            </a:r>
            <a:endParaRPr sz="800">
              <a:solidFill>
                <a:schemeClr val="dk1"/>
              </a:solidFill>
              <a:latin typeface="Calibri"/>
              <a:ea typeface="Calibri"/>
              <a:cs typeface="Calibri"/>
              <a:sym typeface="Calibri"/>
            </a:endParaRPr>
          </a:p>
        </p:txBody>
      </p:sp>
      <p:sp>
        <p:nvSpPr>
          <p:cNvPr id="312" name="Google Shape;312;p22"/>
          <p:cNvSpPr/>
          <p:nvPr/>
        </p:nvSpPr>
        <p:spPr>
          <a:xfrm>
            <a:off x="4617308" y="664363"/>
            <a:ext cx="4313700" cy="2769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13" name="Google Shape;313;p22"/>
          <p:cNvSpPr/>
          <p:nvPr/>
        </p:nvSpPr>
        <p:spPr>
          <a:xfrm>
            <a:off x="4668055" y="711117"/>
            <a:ext cx="3276600" cy="183000"/>
          </a:xfrm>
          <a:prstGeom prst="rect">
            <a:avLst/>
          </a:prstGeom>
          <a:solidFill>
            <a:srgbClr val="1F4690"/>
          </a:solid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chemeClr val="lt1"/>
                </a:solidFill>
                <a:latin typeface="Calibri"/>
                <a:ea typeface="Calibri"/>
                <a:cs typeface="Calibri"/>
                <a:sym typeface="Calibri"/>
              </a:rPr>
              <a:t>{{management_commentry_heading_5}}</a:t>
            </a:r>
            <a:endParaRPr sz="1200" b="1">
              <a:solidFill>
                <a:schemeClr val="lt1"/>
              </a:solidFill>
              <a:latin typeface="Calibri"/>
              <a:ea typeface="Calibri"/>
              <a:cs typeface="Calibri"/>
              <a:sym typeface="Calibri"/>
            </a:endParaRPr>
          </a:p>
        </p:txBody>
      </p:sp>
      <p:sp>
        <p:nvSpPr>
          <p:cNvPr id="314" name="Google Shape;314;p22"/>
          <p:cNvSpPr/>
          <p:nvPr/>
        </p:nvSpPr>
        <p:spPr>
          <a:xfrm>
            <a:off x="4618875" y="2794367"/>
            <a:ext cx="4313700" cy="944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endParaRPr>
          </a:p>
        </p:txBody>
      </p:sp>
      <p:sp>
        <p:nvSpPr>
          <p:cNvPr id="315" name="Google Shape;315;p22"/>
          <p:cNvSpPr/>
          <p:nvPr/>
        </p:nvSpPr>
        <p:spPr>
          <a:xfrm>
            <a:off x="4669425" y="3125975"/>
            <a:ext cx="4208100" cy="56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{{management_content_7}}</a:t>
            </a:r>
            <a:endParaRPr sz="800">
              <a:solidFill>
                <a:schemeClr val="dk1"/>
              </a:solidFill>
              <a:latin typeface="Calibri"/>
              <a:ea typeface="Calibri"/>
              <a:cs typeface="Calibri"/>
              <a:sym typeface="Calibri"/>
            </a:endParaRPr>
          </a:p>
        </p:txBody>
      </p:sp>
      <p:sp>
        <p:nvSpPr>
          <p:cNvPr id="316" name="Google Shape;316;p22"/>
          <p:cNvSpPr/>
          <p:nvPr/>
        </p:nvSpPr>
        <p:spPr>
          <a:xfrm>
            <a:off x="4618683" y="2792600"/>
            <a:ext cx="4313700" cy="2769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17" name="Google Shape;317;p22"/>
          <p:cNvSpPr/>
          <p:nvPr/>
        </p:nvSpPr>
        <p:spPr>
          <a:xfrm>
            <a:off x="4669430" y="2839354"/>
            <a:ext cx="3276600" cy="183000"/>
          </a:xfrm>
          <a:prstGeom prst="rect">
            <a:avLst/>
          </a:prstGeom>
          <a:solidFill>
            <a:srgbClr val="1F4690"/>
          </a:solid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chemeClr val="lt1"/>
                </a:solidFill>
                <a:latin typeface="Calibri"/>
                <a:ea typeface="Calibri"/>
                <a:cs typeface="Calibri"/>
                <a:sym typeface="Calibri"/>
              </a:rPr>
              <a:t>{{management_commentry_heading_7}}</a:t>
            </a:r>
            <a:endParaRPr sz="1200" b="1">
              <a:solidFill>
                <a:schemeClr val="lt1"/>
              </a:solidFill>
              <a:latin typeface="Calibri"/>
              <a:ea typeface="Calibri"/>
              <a:cs typeface="Calibri"/>
              <a:sym typeface="Calibri"/>
            </a:endParaRPr>
          </a:p>
        </p:txBody>
      </p:sp>
      <p:sp>
        <p:nvSpPr>
          <p:cNvPr id="318" name="Google Shape;318;p22"/>
          <p:cNvSpPr/>
          <p:nvPr/>
        </p:nvSpPr>
        <p:spPr>
          <a:xfrm>
            <a:off x="4616625" y="3858492"/>
            <a:ext cx="4313700" cy="944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endParaRPr>
          </a:p>
        </p:txBody>
      </p:sp>
      <p:sp>
        <p:nvSpPr>
          <p:cNvPr id="319" name="Google Shape;319;p22"/>
          <p:cNvSpPr/>
          <p:nvPr/>
        </p:nvSpPr>
        <p:spPr>
          <a:xfrm>
            <a:off x="4667175" y="4190100"/>
            <a:ext cx="4208100" cy="56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{{management_content_8}}</a:t>
            </a:r>
            <a:endParaRPr sz="800">
              <a:solidFill>
                <a:schemeClr val="dk1"/>
              </a:solidFill>
              <a:latin typeface="Calibri"/>
              <a:ea typeface="Calibri"/>
              <a:cs typeface="Calibri"/>
              <a:sym typeface="Calibri"/>
            </a:endParaRPr>
          </a:p>
        </p:txBody>
      </p:sp>
      <p:sp>
        <p:nvSpPr>
          <p:cNvPr id="320" name="Google Shape;320;p22"/>
          <p:cNvSpPr/>
          <p:nvPr/>
        </p:nvSpPr>
        <p:spPr>
          <a:xfrm>
            <a:off x="4616433" y="3856725"/>
            <a:ext cx="4313700" cy="2769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1" name="Google Shape;321;p22"/>
          <p:cNvSpPr/>
          <p:nvPr/>
        </p:nvSpPr>
        <p:spPr>
          <a:xfrm>
            <a:off x="4667180" y="3903479"/>
            <a:ext cx="3276600" cy="183000"/>
          </a:xfrm>
          <a:prstGeom prst="rect">
            <a:avLst/>
          </a:prstGeom>
          <a:solidFill>
            <a:srgbClr val="1F4690"/>
          </a:solid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chemeClr val="lt1"/>
                </a:solidFill>
                <a:latin typeface="Calibri"/>
                <a:ea typeface="Calibri"/>
                <a:cs typeface="Calibri"/>
                <a:sym typeface="Calibri"/>
              </a:rPr>
              <a:t>{{management_commentry_heading_8}}</a:t>
            </a:r>
            <a:endParaRPr sz="1200" b="1">
              <a:solidFill>
                <a:schemeClr val="lt1"/>
              </a:solidFill>
              <a:latin typeface="Calibri"/>
              <a:ea typeface="Calibri"/>
              <a:cs typeface="Calibri"/>
              <a:sym typeface="Calibri"/>
            </a:endParaRPr>
          </a:p>
        </p:txBody>
      </p:sp>
      <p:sp>
        <p:nvSpPr>
          <p:cNvPr id="322" name="Google Shape;322;p22"/>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2"/>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324" name="Google Shape;324;p22"/>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11</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325" name="Google Shape;325;p22"/>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326" name="Google Shape;326;p22"/>
          <p:cNvSpPr/>
          <p:nvPr/>
        </p:nvSpPr>
        <p:spPr>
          <a:xfrm>
            <a:off x="4618975" y="1731129"/>
            <a:ext cx="4313700" cy="944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chemeClr val="lt1"/>
              </a:solidFill>
            </a:endParaRPr>
          </a:p>
        </p:txBody>
      </p:sp>
      <p:sp>
        <p:nvSpPr>
          <p:cNvPr id="327" name="Google Shape;327;p22"/>
          <p:cNvSpPr/>
          <p:nvPr/>
        </p:nvSpPr>
        <p:spPr>
          <a:xfrm>
            <a:off x="4669525" y="2062738"/>
            <a:ext cx="4208100" cy="56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{{management_content_6}}</a:t>
            </a:r>
            <a:endParaRPr sz="800">
              <a:solidFill>
                <a:schemeClr val="dk1"/>
              </a:solidFill>
              <a:latin typeface="Calibri"/>
              <a:ea typeface="Calibri"/>
              <a:cs typeface="Calibri"/>
              <a:sym typeface="Calibri"/>
            </a:endParaRPr>
          </a:p>
        </p:txBody>
      </p:sp>
      <p:sp>
        <p:nvSpPr>
          <p:cNvPr id="328" name="Google Shape;328;p22"/>
          <p:cNvSpPr/>
          <p:nvPr/>
        </p:nvSpPr>
        <p:spPr>
          <a:xfrm>
            <a:off x="4618783" y="1729363"/>
            <a:ext cx="4313700" cy="276900"/>
          </a:xfrm>
          <a:prstGeom prst="rect">
            <a:avLst/>
          </a:prstGeom>
          <a:solidFill>
            <a:srgbClr val="1F4690"/>
          </a:solidFill>
          <a:ln w="127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29" name="Google Shape;329;p22"/>
          <p:cNvSpPr/>
          <p:nvPr/>
        </p:nvSpPr>
        <p:spPr>
          <a:xfrm>
            <a:off x="4669530" y="1776117"/>
            <a:ext cx="3276600" cy="183000"/>
          </a:xfrm>
          <a:prstGeom prst="rect">
            <a:avLst/>
          </a:prstGeom>
          <a:solidFill>
            <a:srgbClr val="1F4690"/>
          </a:solid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200" b="1">
                <a:solidFill>
                  <a:schemeClr val="lt1"/>
                </a:solidFill>
                <a:latin typeface="Calibri"/>
                <a:ea typeface="Calibri"/>
                <a:cs typeface="Calibri"/>
                <a:sym typeface="Calibri"/>
              </a:rPr>
              <a:t>{{management_commentry_heading_6}}</a:t>
            </a:r>
            <a:endParaRPr sz="1200" b="1">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3"/>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Management Analysis and Corporate Governance</a:t>
            </a:r>
            <a:endParaRPr sz="1800"/>
          </a:p>
        </p:txBody>
      </p:sp>
      <p:sp>
        <p:nvSpPr>
          <p:cNvPr id="335" name="Google Shape;335;p23"/>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6" name="Google Shape;336;p23"/>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337" name="Google Shape;337;p23"/>
          <p:cNvSpPr/>
          <p:nvPr/>
        </p:nvSpPr>
        <p:spPr>
          <a:xfrm>
            <a:off x="80425" y="691925"/>
            <a:ext cx="4419600" cy="41367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{{governance_table}}</a:t>
            </a:r>
            <a:endParaRPr sz="800"/>
          </a:p>
        </p:txBody>
      </p:sp>
      <p:sp>
        <p:nvSpPr>
          <p:cNvPr id="338" name="Google Shape;338;p23"/>
          <p:cNvSpPr/>
          <p:nvPr/>
        </p:nvSpPr>
        <p:spPr>
          <a:xfrm>
            <a:off x="4556501" y="691925"/>
            <a:ext cx="4510500" cy="297000"/>
          </a:xfrm>
          <a:prstGeom prst="rect">
            <a:avLst/>
          </a:prstGeom>
          <a:solidFill>
            <a:srgbClr val="1F4690"/>
          </a:solidFill>
          <a:ln w="14725" cap="flat" cmpd="sng">
            <a:solidFill>
              <a:srgbClr val="1B3A6B"/>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39" name="Google Shape;339;p23"/>
          <p:cNvSpPr/>
          <p:nvPr/>
        </p:nvSpPr>
        <p:spPr>
          <a:xfrm>
            <a:off x="4630788" y="691925"/>
            <a:ext cx="4351200" cy="297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45"/>
              <a:buFont typeface="Calibri"/>
              <a:buNone/>
            </a:pPr>
            <a:r>
              <a:rPr lang="en-GB" sz="1245" b="1" i="0" u="none" strike="noStrike" cap="none">
                <a:solidFill>
                  <a:srgbClr val="FFFFFF"/>
                </a:solidFill>
                <a:latin typeface="Calibri"/>
                <a:ea typeface="Calibri"/>
                <a:cs typeface="Calibri"/>
                <a:sym typeface="Calibri"/>
              </a:rPr>
              <a:t>GOVERNANCE INDICATORS</a:t>
            </a:r>
            <a:endParaRPr sz="1245" b="0" i="0" u="none" strike="noStrike" cap="none">
              <a:solidFill>
                <a:srgbClr val="000000"/>
              </a:solidFill>
              <a:latin typeface="Calibri"/>
              <a:ea typeface="Calibri"/>
              <a:cs typeface="Calibri"/>
              <a:sym typeface="Calibri"/>
            </a:endParaRPr>
          </a:p>
        </p:txBody>
      </p:sp>
      <p:sp>
        <p:nvSpPr>
          <p:cNvPr id="340" name="Google Shape;340;p23"/>
          <p:cNvSpPr/>
          <p:nvPr/>
        </p:nvSpPr>
        <p:spPr>
          <a:xfrm>
            <a:off x="4556500" y="1042125"/>
            <a:ext cx="4510500" cy="589200"/>
          </a:xfrm>
          <a:prstGeom prst="rect">
            <a:avLst/>
          </a:prstGeom>
          <a:solidFill>
            <a:schemeClr val="lt1"/>
          </a:solidFill>
          <a:ln w="14725" cap="flat" cmpd="sng">
            <a:solidFill>
              <a:schemeClr val="dk1"/>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41" name="Google Shape;341;p23"/>
          <p:cNvSpPr/>
          <p:nvPr/>
        </p:nvSpPr>
        <p:spPr>
          <a:xfrm>
            <a:off x="4603749" y="1052086"/>
            <a:ext cx="4419600" cy="4950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{{indicators_1}}</a:t>
            </a:r>
            <a:endParaRPr sz="828" b="0" i="0" u="none" strike="noStrike" cap="none">
              <a:solidFill>
                <a:srgbClr val="000000"/>
              </a:solidFill>
              <a:latin typeface="Calibri"/>
              <a:ea typeface="Calibri"/>
              <a:cs typeface="Calibri"/>
              <a:sym typeface="Calibri"/>
            </a:endParaRPr>
          </a:p>
        </p:txBody>
      </p:sp>
      <p:sp>
        <p:nvSpPr>
          <p:cNvPr id="342" name="Google Shape;342;p23"/>
          <p:cNvSpPr/>
          <p:nvPr/>
        </p:nvSpPr>
        <p:spPr>
          <a:xfrm>
            <a:off x="4558770" y="1681611"/>
            <a:ext cx="4510500" cy="589200"/>
          </a:xfrm>
          <a:prstGeom prst="rect">
            <a:avLst/>
          </a:prstGeom>
          <a:solidFill>
            <a:schemeClr val="lt1"/>
          </a:solidFill>
          <a:ln w="14725" cap="flat" cmpd="sng">
            <a:solidFill>
              <a:schemeClr val="dk1"/>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43" name="Google Shape;343;p23"/>
          <p:cNvSpPr/>
          <p:nvPr/>
        </p:nvSpPr>
        <p:spPr>
          <a:xfrm>
            <a:off x="4606019" y="1691572"/>
            <a:ext cx="4419600" cy="4950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{{indicators_2}}</a:t>
            </a:r>
            <a:endParaRPr sz="828" b="0" i="0" u="none" strike="noStrike" cap="none">
              <a:solidFill>
                <a:srgbClr val="000000"/>
              </a:solidFill>
              <a:latin typeface="Calibri"/>
              <a:ea typeface="Calibri"/>
              <a:cs typeface="Calibri"/>
              <a:sym typeface="Calibri"/>
            </a:endParaRPr>
          </a:p>
        </p:txBody>
      </p:sp>
      <p:sp>
        <p:nvSpPr>
          <p:cNvPr id="344" name="Google Shape;344;p23"/>
          <p:cNvSpPr/>
          <p:nvPr/>
        </p:nvSpPr>
        <p:spPr>
          <a:xfrm>
            <a:off x="4560975" y="2321097"/>
            <a:ext cx="4510500" cy="589200"/>
          </a:xfrm>
          <a:prstGeom prst="rect">
            <a:avLst/>
          </a:prstGeom>
          <a:solidFill>
            <a:schemeClr val="lt1"/>
          </a:solidFill>
          <a:ln w="14725" cap="flat" cmpd="sng">
            <a:solidFill>
              <a:schemeClr val="dk1"/>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45" name="Google Shape;345;p23"/>
          <p:cNvSpPr/>
          <p:nvPr/>
        </p:nvSpPr>
        <p:spPr>
          <a:xfrm>
            <a:off x="4608224" y="2331058"/>
            <a:ext cx="4419600" cy="4950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{{indicators_3}}</a:t>
            </a:r>
            <a:endParaRPr sz="828" b="0" i="0" u="none" strike="noStrike" cap="none">
              <a:solidFill>
                <a:srgbClr val="000000"/>
              </a:solidFill>
              <a:latin typeface="Calibri"/>
              <a:ea typeface="Calibri"/>
              <a:cs typeface="Calibri"/>
              <a:sym typeface="Calibri"/>
            </a:endParaRPr>
          </a:p>
        </p:txBody>
      </p:sp>
      <p:sp>
        <p:nvSpPr>
          <p:cNvPr id="346" name="Google Shape;346;p23"/>
          <p:cNvSpPr/>
          <p:nvPr/>
        </p:nvSpPr>
        <p:spPr>
          <a:xfrm>
            <a:off x="4563245" y="2960583"/>
            <a:ext cx="4510500" cy="589200"/>
          </a:xfrm>
          <a:prstGeom prst="rect">
            <a:avLst/>
          </a:prstGeom>
          <a:solidFill>
            <a:schemeClr val="lt1"/>
          </a:solidFill>
          <a:ln w="14725" cap="flat" cmpd="sng">
            <a:solidFill>
              <a:schemeClr val="dk1"/>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47" name="Google Shape;347;p23"/>
          <p:cNvSpPr/>
          <p:nvPr/>
        </p:nvSpPr>
        <p:spPr>
          <a:xfrm>
            <a:off x="4610494" y="2970544"/>
            <a:ext cx="4419600" cy="4950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{{indicators_4}}</a:t>
            </a:r>
            <a:endParaRPr sz="828" b="0" i="0" u="none" strike="noStrike" cap="none">
              <a:solidFill>
                <a:srgbClr val="000000"/>
              </a:solidFill>
              <a:latin typeface="Calibri"/>
              <a:ea typeface="Calibri"/>
              <a:cs typeface="Calibri"/>
              <a:sym typeface="Calibri"/>
            </a:endParaRPr>
          </a:p>
        </p:txBody>
      </p:sp>
      <p:sp>
        <p:nvSpPr>
          <p:cNvPr id="348" name="Google Shape;348;p23"/>
          <p:cNvSpPr/>
          <p:nvPr/>
        </p:nvSpPr>
        <p:spPr>
          <a:xfrm>
            <a:off x="4565450" y="3600069"/>
            <a:ext cx="4510500" cy="589200"/>
          </a:xfrm>
          <a:prstGeom prst="rect">
            <a:avLst/>
          </a:prstGeom>
          <a:solidFill>
            <a:schemeClr val="lt1"/>
          </a:solidFill>
          <a:ln w="14725" cap="flat" cmpd="sng">
            <a:solidFill>
              <a:schemeClr val="dk1"/>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49" name="Google Shape;349;p23"/>
          <p:cNvSpPr/>
          <p:nvPr/>
        </p:nvSpPr>
        <p:spPr>
          <a:xfrm>
            <a:off x="4612699" y="3610030"/>
            <a:ext cx="4419600" cy="4950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{{indicators_5}}</a:t>
            </a:r>
            <a:endParaRPr sz="828" b="0" i="0" u="none" strike="noStrike" cap="none">
              <a:solidFill>
                <a:srgbClr val="000000"/>
              </a:solidFill>
              <a:latin typeface="Calibri"/>
              <a:ea typeface="Calibri"/>
              <a:cs typeface="Calibri"/>
              <a:sym typeface="Calibri"/>
            </a:endParaRPr>
          </a:p>
        </p:txBody>
      </p:sp>
      <p:sp>
        <p:nvSpPr>
          <p:cNvPr id="350" name="Google Shape;350;p23"/>
          <p:cNvSpPr/>
          <p:nvPr/>
        </p:nvSpPr>
        <p:spPr>
          <a:xfrm>
            <a:off x="4567720" y="4239555"/>
            <a:ext cx="4510500" cy="589200"/>
          </a:xfrm>
          <a:prstGeom prst="rect">
            <a:avLst/>
          </a:prstGeom>
          <a:solidFill>
            <a:schemeClr val="lt1"/>
          </a:solidFill>
          <a:ln w="14725" cap="flat" cmpd="sng">
            <a:solidFill>
              <a:schemeClr val="dk1"/>
            </a:solidFill>
            <a:prstDash val="solid"/>
            <a:round/>
            <a:headEnd type="none" w="sm" len="sm"/>
            <a:tailEnd type="none" w="sm" len="sm"/>
          </a:ln>
        </p:spPr>
        <p:txBody>
          <a:bodyPr spcFirstLastPara="1" wrap="square" lIns="106100" tIns="106100" rIns="106100" bIns="106100" anchor="ctr" anchorCtr="0">
            <a:noAutofit/>
          </a:bodyPr>
          <a:lstStyle/>
          <a:p>
            <a:pPr marL="0" lvl="0" indent="0" algn="l" rtl="0">
              <a:spcBef>
                <a:spcPts val="0"/>
              </a:spcBef>
              <a:spcAft>
                <a:spcPts val="0"/>
              </a:spcAft>
              <a:buNone/>
            </a:pPr>
            <a:endParaRPr/>
          </a:p>
        </p:txBody>
      </p:sp>
      <p:sp>
        <p:nvSpPr>
          <p:cNvPr id="351" name="Google Shape;351;p23"/>
          <p:cNvSpPr/>
          <p:nvPr/>
        </p:nvSpPr>
        <p:spPr>
          <a:xfrm>
            <a:off x="4614969" y="4249516"/>
            <a:ext cx="4419600" cy="4950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2E"/>
              </a:buClr>
              <a:buSzPts val="928"/>
              <a:buFont typeface="Calibri"/>
              <a:buNone/>
            </a:pPr>
            <a:r>
              <a:rPr lang="en-GB" sz="828">
                <a:solidFill>
                  <a:srgbClr val="0D1B2E"/>
                </a:solidFill>
                <a:latin typeface="Calibri"/>
                <a:ea typeface="Calibri"/>
                <a:cs typeface="Calibri"/>
                <a:sym typeface="Calibri"/>
              </a:rPr>
              <a:t>{{indicators_6}}</a:t>
            </a:r>
            <a:endParaRPr sz="828" b="0" i="0" u="none" strike="noStrike" cap="none">
              <a:solidFill>
                <a:srgbClr val="000000"/>
              </a:solidFill>
              <a:latin typeface="Calibri"/>
              <a:ea typeface="Calibri"/>
              <a:cs typeface="Calibri"/>
              <a:sym typeface="Calibri"/>
            </a:endParaRPr>
          </a:p>
        </p:txBody>
      </p:sp>
      <p:sp>
        <p:nvSpPr>
          <p:cNvPr id="352" name="Google Shape;352;p23"/>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3"/>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354" name="Google Shape;354;p23"/>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12</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355" name="Google Shape;355;p23"/>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4"/>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Earnings Forecast</a:t>
            </a:r>
            <a:endParaRPr sz="1800"/>
          </a:p>
        </p:txBody>
      </p:sp>
      <p:sp>
        <p:nvSpPr>
          <p:cNvPr id="361" name="Google Shape;361;p24"/>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2" name="Google Shape;362;p24"/>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363" name="Google Shape;363;p24"/>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4"/>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365" name="Google Shape;365;p24"/>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13</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366" name="Google Shape;366;p24"/>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367" name="Google Shape;367;p24"/>
          <p:cNvSpPr/>
          <p:nvPr/>
        </p:nvSpPr>
        <p:spPr>
          <a:xfrm>
            <a:off x="80425" y="636175"/>
            <a:ext cx="6489600" cy="42501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solidFill>
                  <a:schemeClr val="dk1"/>
                </a:solidFill>
              </a:rPr>
              <a:t>{{earnings_forecast_table}}</a:t>
            </a:r>
            <a:endParaRPr sz="800"/>
          </a:p>
        </p:txBody>
      </p:sp>
      <p:sp>
        <p:nvSpPr>
          <p:cNvPr id="368" name="Google Shape;368;p24"/>
          <p:cNvSpPr/>
          <p:nvPr/>
        </p:nvSpPr>
        <p:spPr>
          <a:xfrm>
            <a:off x="6633716" y="636175"/>
            <a:ext cx="2438400" cy="4250100"/>
          </a:xfrm>
          <a:prstGeom prst="rect">
            <a:avLst/>
          </a:prstGeom>
          <a:solidFill>
            <a:srgbClr val="FFE5B4"/>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4"/>
          <p:cNvSpPr/>
          <p:nvPr/>
        </p:nvSpPr>
        <p:spPr>
          <a:xfrm>
            <a:off x="6679550" y="963075"/>
            <a:ext cx="2349600" cy="38799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{{forecast_assumptions}}</a:t>
            </a:r>
            <a:endParaRPr sz="800">
              <a:solidFill>
                <a:srgbClr val="0D1B3E"/>
              </a:solidFill>
              <a:latin typeface="Calibri"/>
              <a:ea typeface="Calibri"/>
              <a:cs typeface="Calibri"/>
              <a:sym typeface="Calibri"/>
            </a:endParaRPr>
          </a:p>
        </p:txBody>
      </p:sp>
      <p:sp>
        <p:nvSpPr>
          <p:cNvPr id="370" name="Google Shape;370;p24"/>
          <p:cNvSpPr/>
          <p:nvPr/>
        </p:nvSpPr>
        <p:spPr>
          <a:xfrm>
            <a:off x="6633626" y="638725"/>
            <a:ext cx="24384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200" b="1">
                <a:solidFill>
                  <a:srgbClr val="1F4690"/>
                </a:solidFill>
                <a:latin typeface="Calibri"/>
                <a:ea typeface="Calibri"/>
                <a:cs typeface="Calibri"/>
                <a:sym typeface="Calibri"/>
              </a:rPr>
              <a:t>Forecast Assumptions</a:t>
            </a:r>
            <a:endParaRPr sz="1200" b="1">
              <a:solidFill>
                <a:srgbClr val="1F469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5"/>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Financials</a:t>
            </a:r>
            <a:endParaRPr sz="1800"/>
          </a:p>
        </p:txBody>
      </p:sp>
      <p:sp>
        <p:nvSpPr>
          <p:cNvPr id="376" name="Google Shape;376;p25"/>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7" name="Google Shape;377;p25"/>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378" name="Google Shape;378;p25"/>
          <p:cNvSpPr/>
          <p:nvPr/>
        </p:nvSpPr>
        <p:spPr>
          <a:xfrm>
            <a:off x="80425" y="636175"/>
            <a:ext cx="6489600" cy="42501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{{financials_table}}</a:t>
            </a:r>
            <a:endParaRPr sz="800"/>
          </a:p>
        </p:txBody>
      </p:sp>
      <p:sp>
        <p:nvSpPr>
          <p:cNvPr id="379" name="Google Shape;379;p25"/>
          <p:cNvSpPr/>
          <p:nvPr/>
        </p:nvSpPr>
        <p:spPr>
          <a:xfrm>
            <a:off x="6633716" y="636175"/>
            <a:ext cx="2438400" cy="4250100"/>
          </a:xfrm>
          <a:prstGeom prst="rect">
            <a:avLst/>
          </a:prstGeom>
          <a:solidFill>
            <a:srgbClr val="FFE5B4"/>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5"/>
          <p:cNvSpPr/>
          <p:nvPr/>
        </p:nvSpPr>
        <p:spPr>
          <a:xfrm>
            <a:off x="6679550" y="963075"/>
            <a:ext cx="2349600" cy="38862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{{financial_commentary}}</a:t>
            </a:r>
            <a:endParaRPr sz="800">
              <a:solidFill>
                <a:srgbClr val="0D1B3E"/>
              </a:solidFill>
              <a:latin typeface="Calibri"/>
              <a:ea typeface="Calibri"/>
              <a:cs typeface="Calibri"/>
              <a:sym typeface="Calibri"/>
            </a:endParaRPr>
          </a:p>
        </p:txBody>
      </p:sp>
      <p:sp>
        <p:nvSpPr>
          <p:cNvPr id="381" name="Google Shape;381;p25"/>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5"/>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383" name="Google Shape;383;p25"/>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14</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384" name="Google Shape;384;p25"/>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385" name="Google Shape;385;p25"/>
          <p:cNvSpPr/>
          <p:nvPr/>
        </p:nvSpPr>
        <p:spPr>
          <a:xfrm>
            <a:off x="6633626" y="638725"/>
            <a:ext cx="24384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200" b="1">
                <a:solidFill>
                  <a:srgbClr val="1F4690"/>
                </a:solidFill>
                <a:latin typeface="Calibri"/>
                <a:ea typeface="Calibri"/>
                <a:cs typeface="Calibri"/>
                <a:sym typeface="Calibri"/>
              </a:rPr>
              <a:t>Financial Summary</a:t>
            </a:r>
            <a:endParaRPr>
              <a:solidFill>
                <a:srgbClr val="1F469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26"/>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Valuations</a:t>
            </a:r>
            <a:endParaRPr sz="1800" b="1">
              <a:solidFill>
                <a:schemeClr val="lt1"/>
              </a:solidFill>
              <a:latin typeface="Calibri"/>
              <a:ea typeface="Calibri"/>
              <a:cs typeface="Calibri"/>
              <a:sym typeface="Calibri"/>
            </a:endParaRPr>
          </a:p>
        </p:txBody>
      </p:sp>
      <p:sp>
        <p:nvSpPr>
          <p:cNvPr id="391" name="Google Shape;391;p26"/>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2" name="Google Shape;392;p26"/>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393" name="Google Shape;393;p26"/>
          <p:cNvSpPr/>
          <p:nvPr/>
        </p:nvSpPr>
        <p:spPr>
          <a:xfrm>
            <a:off x="80425" y="636175"/>
            <a:ext cx="6489600" cy="42501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solidFill>
                  <a:schemeClr val="dk1"/>
                </a:solidFill>
              </a:rPr>
              <a:t>{{valuations_table}}</a:t>
            </a:r>
            <a:endParaRPr sz="800"/>
          </a:p>
        </p:txBody>
      </p:sp>
      <p:sp>
        <p:nvSpPr>
          <p:cNvPr id="394" name="Google Shape;394;p26"/>
          <p:cNvSpPr/>
          <p:nvPr/>
        </p:nvSpPr>
        <p:spPr>
          <a:xfrm>
            <a:off x="6633717" y="636175"/>
            <a:ext cx="2438400" cy="4250100"/>
          </a:xfrm>
          <a:prstGeom prst="rect">
            <a:avLst/>
          </a:prstGeom>
          <a:solidFill>
            <a:srgbClr val="FFE5B4"/>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6"/>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6"/>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397" name="Google Shape;397;p26"/>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15</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398" name="Google Shape;398;p26"/>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399" name="Google Shape;399;p26"/>
          <p:cNvSpPr/>
          <p:nvPr/>
        </p:nvSpPr>
        <p:spPr>
          <a:xfrm>
            <a:off x="6633627" y="638725"/>
            <a:ext cx="24384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200" b="1">
                <a:solidFill>
                  <a:srgbClr val="1F4690"/>
                </a:solidFill>
                <a:latin typeface="Calibri"/>
                <a:ea typeface="Calibri"/>
                <a:cs typeface="Calibri"/>
                <a:sym typeface="Calibri"/>
              </a:rPr>
              <a:t>Valuation Summary</a:t>
            </a:r>
            <a:endParaRPr>
              <a:solidFill>
                <a:srgbClr val="1F4690"/>
              </a:solidFill>
            </a:endParaRPr>
          </a:p>
        </p:txBody>
      </p:sp>
      <p:sp>
        <p:nvSpPr>
          <p:cNvPr id="400" name="Google Shape;400;p26"/>
          <p:cNvSpPr/>
          <p:nvPr/>
        </p:nvSpPr>
        <p:spPr>
          <a:xfrm>
            <a:off x="6679550" y="963075"/>
            <a:ext cx="2349600" cy="3886200"/>
          </a:xfrm>
          <a:prstGeom prst="rect">
            <a:avLst/>
          </a:prstGeom>
          <a:noFill/>
          <a:ln w="9525" cap="flat" cmpd="sng">
            <a:solidFill>
              <a:srgbClr val="FFE5B4"/>
            </a:solidFill>
            <a:prstDash val="solid"/>
            <a:round/>
            <a:headEnd type="none" w="sm" len="sm"/>
            <a:tailEnd type="none" w="sm" len="sm"/>
          </a:ln>
        </p:spPr>
        <p:txBody>
          <a:bodyPr spcFirstLastPara="1" wrap="square" lIns="45700" tIns="45700" rIns="45700" bIns="45700" anchor="t" anchorCtr="0">
            <a:noAutofit/>
          </a:bodyPr>
          <a:lstStyle/>
          <a:p>
            <a:pPr marL="0" lvl="0" indent="0" algn="just" rtl="0">
              <a:spcBef>
                <a:spcPts val="0"/>
              </a:spcBef>
              <a:spcAft>
                <a:spcPts val="0"/>
              </a:spcAft>
              <a:buClr>
                <a:srgbClr val="0D1B3E"/>
              </a:buClr>
              <a:buSzPts val="850"/>
              <a:buFont typeface="Calibri"/>
              <a:buNone/>
            </a:pPr>
            <a:r>
              <a:rPr lang="en-GB" sz="800">
                <a:solidFill>
                  <a:srgbClr val="0D1B3E"/>
                </a:solidFill>
                <a:latin typeface="Calibri"/>
                <a:ea typeface="Calibri"/>
                <a:cs typeface="Calibri"/>
                <a:sym typeface="Calibri"/>
              </a:rPr>
              <a:t>{{valuation_commentary}}</a:t>
            </a:r>
            <a:endParaRPr sz="800">
              <a:solidFill>
                <a:srgbClr val="0D1B3E"/>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7"/>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SAARTHI Framework</a:t>
            </a:r>
            <a:endParaRPr sz="1800"/>
          </a:p>
        </p:txBody>
      </p:sp>
      <p:sp>
        <p:nvSpPr>
          <p:cNvPr id="406" name="Google Shape;406;p27"/>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7" name="Google Shape;407;p27"/>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408" name="Google Shape;408;p27"/>
          <p:cNvSpPr/>
          <p:nvPr/>
        </p:nvSpPr>
        <p:spPr>
          <a:xfrm>
            <a:off x="77521" y="729642"/>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09" name="Google Shape;409;p27"/>
          <p:cNvSpPr/>
          <p:nvPr/>
        </p:nvSpPr>
        <p:spPr>
          <a:xfrm>
            <a:off x="129350" y="1061243"/>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{{saarthi_s_content}}</a:t>
            </a:r>
            <a:endParaRPr sz="800">
              <a:solidFill>
                <a:schemeClr val="dk1"/>
              </a:solidFill>
              <a:latin typeface="Calibri"/>
              <a:ea typeface="Calibri"/>
              <a:cs typeface="Calibri"/>
              <a:sym typeface="Calibri"/>
            </a:endParaRPr>
          </a:p>
        </p:txBody>
      </p:sp>
      <p:sp>
        <p:nvSpPr>
          <p:cNvPr id="410" name="Google Shape;410;p27"/>
          <p:cNvSpPr/>
          <p:nvPr/>
        </p:nvSpPr>
        <p:spPr>
          <a:xfrm>
            <a:off x="77324" y="727875"/>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7"/>
          <p:cNvSpPr/>
          <p:nvPr/>
        </p:nvSpPr>
        <p:spPr>
          <a:xfrm>
            <a:off x="129350" y="774629"/>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S — Scalability of Core Engine</a:t>
            </a:r>
            <a:endParaRPr sz="1300" b="1">
              <a:solidFill>
                <a:schemeClr val="dk1"/>
              </a:solidFill>
              <a:latin typeface="Calibri"/>
              <a:ea typeface="Calibri"/>
              <a:cs typeface="Calibri"/>
              <a:sym typeface="Calibri"/>
            </a:endParaRPr>
          </a:p>
        </p:txBody>
      </p:sp>
      <p:sp>
        <p:nvSpPr>
          <p:cNvPr id="412" name="Google Shape;412;p27"/>
          <p:cNvSpPr/>
          <p:nvPr/>
        </p:nvSpPr>
        <p:spPr>
          <a:xfrm>
            <a:off x="75334" y="1747144"/>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13" name="Google Shape;413;p27"/>
          <p:cNvSpPr/>
          <p:nvPr/>
        </p:nvSpPr>
        <p:spPr>
          <a:xfrm>
            <a:off x="127163" y="2078745"/>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{{saarthi_a1_content}}</a:t>
            </a:r>
            <a:endParaRPr sz="800">
              <a:solidFill>
                <a:schemeClr val="dk1"/>
              </a:solidFill>
              <a:latin typeface="Calibri"/>
              <a:ea typeface="Calibri"/>
              <a:cs typeface="Calibri"/>
              <a:sym typeface="Calibri"/>
            </a:endParaRPr>
          </a:p>
        </p:txBody>
      </p:sp>
      <p:sp>
        <p:nvSpPr>
          <p:cNvPr id="414" name="Google Shape;414;p27"/>
          <p:cNvSpPr/>
          <p:nvPr/>
        </p:nvSpPr>
        <p:spPr>
          <a:xfrm>
            <a:off x="75137" y="1745377"/>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7"/>
          <p:cNvSpPr/>
          <p:nvPr/>
        </p:nvSpPr>
        <p:spPr>
          <a:xfrm>
            <a:off x="127163" y="1792131"/>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A — Addressable Market &amp; Adjacency</a:t>
            </a:r>
            <a:endParaRPr sz="1300" b="1">
              <a:solidFill>
                <a:schemeClr val="dk1"/>
              </a:solidFill>
              <a:latin typeface="Calibri"/>
              <a:ea typeface="Calibri"/>
              <a:cs typeface="Calibri"/>
              <a:sym typeface="Calibri"/>
            </a:endParaRPr>
          </a:p>
        </p:txBody>
      </p:sp>
      <p:sp>
        <p:nvSpPr>
          <p:cNvPr id="416" name="Google Shape;416;p27"/>
          <p:cNvSpPr/>
          <p:nvPr/>
        </p:nvSpPr>
        <p:spPr>
          <a:xfrm>
            <a:off x="73147" y="2766421"/>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17" name="Google Shape;417;p27"/>
          <p:cNvSpPr/>
          <p:nvPr/>
        </p:nvSpPr>
        <p:spPr>
          <a:xfrm>
            <a:off x="124976" y="3098022"/>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{{saarthi_a2_content}}</a:t>
            </a:r>
            <a:endParaRPr sz="800">
              <a:solidFill>
                <a:schemeClr val="dk1"/>
              </a:solidFill>
              <a:latin typeface="Calibri"/>
              <a:ea typeface="Calibri"/>
              <a:cs typeface="Calibri"/>
              <a:sym typeface="Calibri"/>
            </a:endParaRPr>
          </a:p>
        </p:txBody>
      </p:sp>
      <p:sp>
        <p:nvSpPr>
          <p:cNvPr id="418" name="Google Shape;418;p27"/>
          <p:cNvSpPr/>
          <p:nvPr/>
        </p:nvSpPr>
        <p:spPr>
          <a:xfrm>
            <a:off x="72950" y="2764654"/>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7"/>
          <p:cNvSpPr/>
          <p:nvPr/>
        </p:nvSpPr>
        <p:spPr>
          <a:xfrm>
            <a:off x="124976" y="2811408"/>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A — Asymmetric Pricing Power</a:t>
            </a:r>
            <a:endParaRPr sz="1300" b="1">
              <a:solidFill>
                <a:schemeClr val="dk1"/>
              </a:solidFill>
              <a:latin typeface="Calibri"/>
              <a:ea typeface="Calibri"/>
              <a:cs typeface="Calibri"/>
              <a:sym typeface="Calibri"/>
            </a:endParaRPr>
          </a:p>
        </p:txBody>
      </p:sp>
      <p:sp>
        <p:nvSpPr>
          <p:cNvPr id="420" name="Google Shape;420;p27"/>
          <p:cNvSpPr/>
          <p:nvPr/>
        </p:nvSpPr>
        <p:spPr>
          <a:xfrm>
            <a:off x="77619" y="3787473"/>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21" name="Google Shape;421;p27"/>
          <p:cNvSpPr/>
          <p:nvPr/>
        </p:nvSpPr>
        <p:spPr>
          <a:xfrm>
            <a:off x="129449" y="4119074"/>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{{saarthi_r_content}}</a:t>
            </a:r>
            <a:endParaRPr sz="800">
              <a:solidFill>
                <a:schemeClr val="dk1"/>
              </a:solidFill>
              <a:latin typeface="Calibri"/>
              <a:ea typeface="Calibri"/>
              <a:cs typeface="Calibri"/>
              <a:sym typeface="Calibri"/>
            </a:endParaRPr>
          </a:p>
        </p:txBody>
      </p:sp>
      <p:sp>
        <p:nvSpPr>
          <p:cNvPr id="422" name="Google Shape;422;p27"/>
          <p:cNvSpPr/>
          <p:nvPr/>
        </p:nvSpPr>
        <p:spPr>
          <a:xfrm>
            <a:off x="77423" y="3785706"/>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7"/>
          <p:cNvSpPr/>
          <p:nvPr/>
        </p:nvSpPr>
        <p:spPr>
          <a:xfrm>
            <a:off x="129449" y="3832460"/>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R — Reinvestment Quality</a:t>
            </a:r>
            <a:endParaRPr sz="1300" b="1">
              <a:solidFill>
                <a:schemeClr val="dk1"/>
              </a:solidFill>
              <a:latin typeface="Calibri"/>
              <a:ea typeface="Calibri"/>
              <a:cs typeface="Calibri"/>
              <a:sym typeface="Calibri"/>
            </a:endParaRPr>
          </a:p>
        </p:txBody>
      </p:sp>
      <p:sp>
        <p:nvSpPr>
          <p:cNvPr id="424" name="Google Shape;424;p27"/>
          <p:cNvSpPr/>
          <p:nvPr/>
        </p:nvSpPr>
        <p:spPr>
          <a:xfrm>
            <a:off x="4598721" y="729642"/>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25" name="Google Shape;425;p27"/>
          <p:cNvSpPr/>
          <p:nvPr/>
        </p:nvSpPr>
        <p:spPr>
          <a:xfrm>
            <a:off x="4650550" y="1061243"/>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{{saarthi_t_content}}</a:t>
            </a:r>
            <a:endParaRPr sz="800">
              <a:solidFill>
                <a:schemeClr val="dk1"/>
              </a:solidFill>
              <a:latin typeface="Calibri"/>
              <a:ea typeface="Calibri"/>
              <a:cs typeface="Calibri"/>
              <a:sym typeface="Calibri"/>
            </a:endParaRPr>
          </a:p>
        </p:txBody>
      </p:sp>
      <p:sp>
        <p:nvSpPr>
          <p:cNvPr id="426" name="Google Shape;426;p27"/>
          <p:cNvSpPr/>
          <p:nvPr/>
        </p:nvSpPr>
        <p:spPr>
          <a:xfrm>
            <a:off x="4598524" y="727875"/>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7"/>
          <p:cNvSpPr/>
          <p:nvPr/>
        </p:nvSpPr>
        <p:spPr>
          <a:xfrm>
            <a:off x="4650550" y="774629"/>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T — Track Record Through Adversity</a:t>
            </a:r>
            <a:endParaRPr sz="1300" b="1">
              <a:solidFill>
                <a:schemeClr val="dk1"/>
              </a:solidFill>
              <a:latin typeface="Calibri"/>
              <a:ea typeface="Calibri"/>
              <a:cs typeface="Calibri"/>
              <a:sym typeface="Calibri"/>
            </a:endParaRPr>
          </a:p>
        </p:txBody>
      </p:sp>
      <p:sp>
        <p:nvSpPr>
          <p:cNvPr id="428" name="Google Shape;428;p27"/>
          <p:cNvSpPr/>
          <p:nvPr/>
        </p:nvSpPr>
        <p:spPr>
          <a:xfrm>
            <a:off x="4596534" y="1747144"/>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29" name="Google Shape;429;p27"/>
          <p:cNvSpPr/>
          <p:nvPr/>
        </p:nvSpPr>
        <p:spPr>
          <a:xfrm>
            <a:off x="4648363" y="2078745"/>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{{saarthi_h_content}}</a:t>
            </a:r>
            <a:endParaRPr sz="800">
              <a:solidFill>
                <a:schemeClr val="dk1"/>
              </a:solidFill>
              <a:latin typeface="Calibri"/>
              <a:ea typeface="Calibri"/>
              <a:cs typeface="Calibri"/>
              <a:sym typeface="Calibri"/>
            </a:endParaRPr>
          </a:p>
        </p:txBody>
      </p:sp>
      <p:sp>
        <p:nvSpPr>
          <p:cNvPr id="430" name="Google Shape;430;p27"/>
          <p:cNvSpPr/>
          <p:nvPr/>
        </p:nvSpPr>
        <p:spPr>
          <a:xfrm>
            <a:off x="4596337" y="1745377"/>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7"/>
          <p:cNvSpPr/>
          <p:nvPr/>
        </p:nvSpPr>
        <p:spPr>
          <a:xfrm>
            <a:off x="4648363" y="1792131"/>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H — Human Capital &amp; Institutional DNA</a:t>
            </a:r>
            <a:endParaRPr sz="1300" b="1">
              <a:solidFill>
                <a:schemeClr val="dk1"/>
              </a:solidFill>
              <a:latin typeface="Calibri"/>
              <a:ea typeface="Calibri"/>
              <a:cs typeface="Calibri"/>
              <a:sym typeface="Calibri"/>
            </a:endParaRPr>
          </a:p>
        </p:txBody>
      </p:sp>
      <p:sp>
        <p:nvSpPr>
          <p:cNvPr id="432" name="Google Shape;432;p27"/>
          <p:cNvSpPr/>
          <p:nvPr/>
        </p:nvSpPr>
        <p:spPr>
          <a:xfrm>
            <a:off x="4594347" y="2766421"/>
            <a:ext cx="4422300" cy="944400"/>
          </a:xfrm>
          <a:prstGeom prst="rect">
            <a:avLst/>
          </a:prstGeom>
          <a:solidFill>
            <a:srgbClr val="FFE5B4"/>
          </a:solidFill>
          <a:ln w="9525" cap="flat" cmpd="sng">
            <a:solidFill>
              <a:srgbClr val="1B3A6B"/>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33" name="Google Shape;433;p27"/>
          <p:cNvSpPr/>
          <p:nvPr/>
        </p:nvSpPr>
        <p:spPr>
          <a:xfrm>
            <a:off x="4646176" y="3098022"/>
            <a:ext cx="4314300" cy="564900"/>
          </a:xfrm>
          <a:prstGeom prst="rect">
            <a:avLst/>
          </a:prstGeom>
          <a:noFill/>
          <a:ln w="9525" cap="flat" cmpd="sng">
            <a:solidFill>
              <a:srgbClr val="FFE5B4"/>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{{saarthi_i_content}}</a:t>
            </a:r>
            <a:endParaRPr sz="800">
              <a:solidFill>
                <a:schemeClr val="dk1"/>
              </a:solidFill>
              <a:latin typeface="Calibri"/>
              <a:ea typeface="Calibri"/>
              <a:cs typeface="Calibri"/>
              <a:sym typeface="Calibri"/>
            </a:endParaRPr>
          </a:p>
        </p:txBody>
      </p:sp>
      <p:sp>
        <p:nvSpPr>
          <p:cNvPr id="434" name="Google Shape;434;p27"/>
          <p:cNvSpPr/>
          <p:nvPr/>
        </p:nvSpPr>
        <p:spPr>
          <a:xfrm>
            <a:off x="4594150" y="2764654"/>
            <a:ext cx="4422300" cy="276900"/>
          </a:xfrm>
          <a:prstGeom prst="rect">
            <a:avLst/>
          </a:prstGeom>
          <a:solidFill>
            <a:srgbClr val="FFA500"/>
          </a:solidFill>
          <a:ln w="12700"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7"/>
          <p:cNvSpPr/>
          <p:nvPr/>
        </p:nvSpPr>
        <p:spPr>
          <a:xfrm>
            <a:off x="4646176" y="2811408"/>
            <a:ext cx="3359400" cy="183000"/>
          </a:xfrm>
          <a:prstGeom prst="rect">
            <a:avLst/>
          </a:prstGeom>
          <a:noFill/>
          <a:ln w="9525" cap="flat" cmpd="sng">
            <a:solidFill>
              <a:srgbClr val="FFA5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Calibri"/>
              <a:buNone/>
            </a:pPr>
            <a:r>
              <a:rPr lang="en-GB" sz="1300" b="1">
                <a:solidFill>
                  <a:schemeClr val="dk1"/>
                </a:solidFill>
                <a:latin typeface="Calibri"/>
                <a:ea typeface="Calibri"/>
                <a:cs typeface="Calibri"/>
                <a:sym typeface="Calibri"/>
              </a:rPr>
              <a:t>I — Inflection Point Identification</a:t>
            </a:r>
            <a:endParaRPr sz="1300" b="1">
              <a:solidFill>
                <a:schemeClr val="dk1"/>
              </a:solidFill>
              <a:latin typeface="Calibri"/>
              <a:ea typeface="Calibri"/>
              <a:cs typeface="Calibri"/>
              <a:sym typeface="Calibri"/>
            </a:endParaRPr>
          </a:p>
        </p:txBody>
      </p:sp>
      <p:sp>
        <p:nvSpPr>
          <p:cNvPr id="436" name="Google Shape;436;p27"/>
          <p:cNvSpPr/>
          <p:nvPr/>
        </p:nvSpPr>
        <p:spPr>
          <a:xfrm>
            <a:off x="4592425" y="3797675"/>
            <a:ext cx="4422000" cy="944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
        <p:nvSpPr>
          <p:cNvPr id="437" name="Google Shape;437;p27"/>
          <p:cNvSpPr/>
          <p:nvPr/>
        </p:nvSpPr>
        <p:spPr>
          <a:xfrm>
            <a:off x="4644250" y="4119074"/>
            <a:ext cx="4314000" cy="588300"/>
          </a:xfrm>
          <a:prstGeom prst="rect">
            <a:avLst/>
          </a:prstGeom>
          <a:noFill/>
          <a:ln w="9525"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Clr>
                <a:srgbClr val="FFFFFF"/>
              </a:buClr>
              <a:buSzPts val="1400"/>
              <a:buFont typeface="Calibri"/>
              <a:buNone/>
            </a:pPr>
            <a:r>
              <a:rPr lang="en-GB" sz="800">
                <a:solidFill>
                  <a:schemeClr val="dk1"/>
                </a:solidFill>
                <a:latin typeface="Calibri"/>
                <a:ea typeface="Calibri"/>
                <a:cs typeface="Calibri"/>
                <a:sym typeface="Calibri"/>
              </a:rPr>
              <a:t>{{saarthi_summary_s16}}</a:t>
            </a:r>
            <a:endParaRPr sz="800">
              <a:solidFill>
                <a:schemeClr val="dk1"/>
              </a:solidFill>
              <a:latin typeface="Calibri"/>
              <a:ea typeface="Calibri"/>
              <a:cs typeface="Calibri"/>
              <a:sym typeface="Calibri"/>
            </a:endParaRPr>
          </a:p>
        </p:txBody>
      </p:sp>
      <p:sp>
        <p:nvSpPr>
          <p:cNvPr id="438" name="Google Shape;438;p27"/>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7"/>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440" name="Google Shape;440;p27"/>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16</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441" name="Google Shape;441;p27"/>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442" name="Google Shape;442;p27"/>
          <p:cNvSpPr/>
          <p:nvPr/>
        </p:nvSpPr>
        <p:spPr>
          <a:xfrm>
            <a:off x="3865024" y="1744300"/>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{a1_s}</a:t>
            </a:r>
            <a:endParaRPr>
              <a:solidFill>
                <a:schemeClr val="lt1"/>
              </a:solidFill>
            </a:endParaRPr>
          </a:p>
        </p:txBody>
      </p:sp>
      <p:sp>
        <p:nvSpPr>
          <p:cNvPr id="443" name="Google Shape;443;p27"/>
          <p:cNvSpPr/>
          <p:nvPr/>
        </p:nvSpPr>
        <p:spPr>
          <a:xfrm>
            <a:off x="3865024" y="723950"/>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{s_s}</a:t>
            </a:r>
            <a:endParaRPr>
              <a:solidFill>
                <a:schemeClr val="lt1"/>
              </a:solidFill>
            </a:endParaRPr>
          </a:p>
        </p:txBody>
      </p:sp>
      <p:sp>
        <p:nvSpPr>
          <p:cNvPr id="444" name="Google Shape;444;p27"/>
          <p:cNvSpPr/>
          <p:nvPr/>
        </p:nvSpPr>
        <p:spPr>
          <a:xfrm>
            <a:off x="3865024" y="2756338"/>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{a2_s}</a:t>
            </a:r>
            <a:endParaRPr>
              <a:solidFill>
                <a:schemeClr val="lt1"/>
              </a:solidFill>
            </a:endParaRPr>
          </a:p>
        </p:txBody>
      </p:sp>
      <p:sp>
        <p:nvSpPr>
          <p:cNvPr id="445" name="Google Shape;445;p27"/>
          <p:cNvSpPr/>
          <p:nvPr/>
        </p:nvSpPr>
        <p:spPr>
          <a:xfrm>
            <a:off x="3865024" y="3776500"/>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{r_s}</a:t>
            </a:r>
            <a:endParaRPr>
              <a:solidFill>
                <a:schemeClr val="lt1"/>
              </a:solidFill>
            </a:endParaRPr>
          </a:p>
        </p:txBody>
      </p:sp>
      <p:sp>
        <p:nvSpPr>
          <p:cNvPr id="446" name="Google Shape;446;p27"/>
          <p:cNvSpPr/>
          <p:nvPr/>
        </p:nvSpPr>
        <p:spPr>
          <a:xfrm>
            <a:off x="8385924" y="726100"/>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{t_s}</a:t>
            </a:r>
            <a:endParaRPr>
              <a:solidFill>
                <a:schemeClr val="lt1"/>
              </a:solidFill>
            </a:endParaRPr>
          </a:p>
        </p:txBody>
      </p:sp>
      <p:sp>
        <p:nvSpPr>
          <p:cNvPr id="447" name="Google Shape;447;p27"/>
          <p:cNvSpPr/>
          <p:nvPr/>
        </p:nvSpPr>
        <p:spPr>
          <a:xfrm>
            <a:off x="8385924" y="1737950"/>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{h_s}</a:t>
            </a:r>
            <a:endParaRPr>
              <a:solidFill>
                <a:schemeClr val="lt1"/>
              </a:solidFill>
            </a:endParaRPr>
          </a:p>
        </p:txBody>
      </p:sp>
      <p:sp>
        <p:nvSpPr>
          <p:cNvPr id="448" name="Google Shape;448;p27"/>
          <p:cNvSpPr/>
          <p:nvPr/>
        </p:nvSpPr>
        <p:spPr>
          <a:xfrm>
            <a:off x="8385924" y="2765863"/>
            <a:ext cx="628500" cy="276900"/>
          </a:xfrm>
          <a:prstGeom prst="rect">
            <a:avLst/>
          </a:prstGeom>
          <a:solidFill>
            <a:srgbClr val="1F4690"/>
          </a:solidFill>
          <a:ln w="9525" cap="flat" cmpd="sng">
            <a:solidFill>
              <a:srgbClr val="1B3A6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200" b="1">
                <a:solidFill>
                  <a:schemeClr val="lt1"/>
                </a:solidFill>
                <a:latin typeface="Calibri"/>
                <a:ea typeface="Calibri"/>
                <a:cs typeface="Calibri"/>
                <a:sym typeface="Calibri"/>
              </a:rPr>
              <a:t>{i_s}</a:t>
            </a:r>
            <a:endParaRPr>
              <a:solidFill>
                <a:schemeClr val="lt1"/>
              </a:solidFill>
            </a:endParaRPr>
          </a:p>
        </p:txBody>
      </p:sp>
      <p:sp>
        <p:nvSpPr>
          <p:cNvPr id="449" name="Google Shape;449;p27"/>
          <p:cNvSpPr/>
          <p:nvPr/>
        </p:nvSpPr>
        <p:spPr>
          <a:xfrm>
            <a:off x="4596599" y="3792050"/>
            <a:ext cx="4422000" cy="276900"/>
          </a:xfrm>
          <a:prstGeom prst="rect">
            <a:avLst/>
          </a:prstGeom>
          <a:solidFill>
            <a:srgbClr val="1F469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200" b="1">
                <a:solidFill>
                  <a:schemeClr val="lt1"/>
                </a:solidFill>
                <a:latin typeface="Calibri"/>
                <a:ea typeface="Calibri"/>
                <a:cs typeface="Calibri"/>
                <a:sym typeface="Calibri"/>
              </a:rPr>
              <a:t>SAARTHI Summary</a:t>
            </a:r>
            <a:endParaRPr sz="1200" b="1">
              <a:solidFill>
                <a:schemeClr val="lt1"/>
              </a:solidFill>
              <a:latin typeface="Calibri"/>
              <a:ea typeface="Calibri"/>
              <a:cs typeface="Calibri"/>
              <a:sym typeface="Calibri"/>
            </a:endParaRPr>
          </a:p>
        </p:txBody>
      </p:sp>
      <p:sp>
        <p:nvSpPr>
          <p:cNvPr id="450" name="Google Shape;450;p27"/>
          <p:cNvSpPr/>
          <p:nvPr/>
        </p:nvSpPr>
        <p:spPr>
          <a:xfrm>
            <a:off x="8385925" y="3793803"/>
            <a:ext cx="628500" cy="276900"/>
          </a:xfrm>
          <a:prstGeom prst="rect">
            <a:avLst/>
          </a:prstGeom>
          <a:solidFill>
            <a:srgbClr val="FFA500"/>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200" b="1">
                <a:solidFill>
                  <a:srgbClr val="1F4690"/>
                </a:solidFill>
                <a:latin typeface="Calibri"/>
                <a:ea typeface="Calibri"/>
                <a:cs typeface="Calibri"/>
                <a:sym typeface="Calibri"/>
              </a:rPr>
              <a:t>{{saarthi_s}}</a:t>
            </a:r>
            <a:endParaRPr sz="1200" b="1">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28"/>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Scenario Analysis</a:t>
            </a:r>
            <a:endParaRPr sz="1800"/>
          </a:p>
        </p:txBody>
      </p:sp>
      <p:sp>
        <p:nvSpPr>
          <p:cNvPr id="456" name="Google Shape;456;p28"/>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7" name="Google Shape;457;p28"/>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458" name="Google Shape;458;p28"/>
          <p:cNvSpPr/>
          <p:nvPr/>
        </p:nvSpPr>
        <p:spPr>
          <a:xfrm>
            <a:off x="210275" y="638725"/>
            <a:ext cx="2834700" cy="2745300"/>
          </a:xfrm>
          <a:prstGeom prst="rect">
            <a:avLst/>
          </a:prstGeom>
          <a:solidFill>
            <a:srgbClr val="DCFCE7"/>
          </a:solidFill>
          <a:ln w="12700" cap="flat" cmpd="sng">
            <a:solidFill>
              <a:srgbClr val="16A34A"/>
            </a:solidFill>
            <a:prstDash val="solid"/>
            <a:round/>
            <a:headEnd type="none" w="sm" len="sm"/>
            <a:tailEnd type="none" w="sm" len="sm"/>
          </a:ln>
          <a:effectLst>
            <a:outerShdw blurRad="1016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8"/>
          <p:cNvSpPr/>
          <p:nvPr/>
        </p:nvSpPr>
        <p:spPr>
          <a:xfrm>
            <a:off x="210282" y="638735"/>
            <a:ext cx="2834700" cy="384000"/>
          </a:xfrm>
          <a:prstGeom prst="rect">
            <a:avLst/>
          </a:prstGeom>
          <a:solidFill>
            <a:srgbClr val="16A34A"/>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8"/>
          <p:cNvSpPr/>
          <p:nvPr/>
        </p:nvSpPr>
        <p:spPr>
          <a:xfrm>
            <a:off x="283434" y="657023"/>
            <a:ext cx="26883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GB" sz="1200" b="1" i="0" u="none" strike="noStrike" cap="none">
                <a:solidFill>
                  <a:srgbClr val="FFFFFF"/>
                </a:solidFill>
                <a:latin typeface="Calibri"/>
                <a:ea typeface="Calibri"/>
                <a:cs typeface="Calibri"/>
                <a:sym typeface="Calibri"/>
              </a:rPr>
              <a:t>BULL CASE </a:t>
            </a:r>
            <a:endParaRPr sz="1200" b="0" i="0" u="none" strike="noStrike" cap="none">
              <a:solidFill>
                <a:srgbClr val="000000"/>
              </a:solidFill>
              <a:latin typeface="Calibri"/>
              <a:ea typeface="Calibri"/>
              <a:cs typeface="Calibri"/>
              <a:sym typeface="Calibri"/>
            </a:endParaRPr>
          </a:p>
        </p:txBody>
      </p:sp>
      <p:sp>
        <p:nvSpPr>
          <p:cNvPr id="461" name="Google Shape;461;p28"/>
          <p:cNvSpPr/>
          <p:nvPr/>
        </p:nvSpPr>
        <p:spPr>
          <a:xfrm>
            <a:off x="301722" y="1050215"/>
            <a:ext cx="1645800" cy="475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A34A"/>
              </a:buClr>
              <a:buSzPts val="2400"/>
              <a:buFont typeface="Calibri"/>
              <a:buNone/>
            </a:pPr>
            <a:r>
              <a:rPr lang="en-GB" sz="2200" b="1">
                <a:solidFill>
                  <a:srgbClr val="16A34A"/>
                </a:solidFill>
                <a:latin typeface="Calibri"/>
                <a:ea typeface="Calibri"/>
                <a:cs typeface="Calibri"/>
                <a:sym typeface="Calibri"/>
              </a:rPr>
              <a:t>{{bull}}</a:t>
            </a:r>
            <a:endParaRPr sz="2200" b="0" i="0" u="none" strike="noStrike" cap="none">
              <a:solidFill>
                <a:srgbClr val="000000"/>
              </a:solidFill>
              <a:latin typeface="Calibri"/>
              <a:ea typeface="Calibri"/>
              <a:cs typeface="Calibri"/>
              <a:sym typeface="Calibri"/>
            </a:endParaRPr>
          </a:p>
        </p:txBody>
      </p:sp>
      <p:sp>
        <p:nvSpPr>
          <p:cNvPr id="462" name="Google Shape;462;p28"/>
          <p:cNvSpPr/>
          <p:nvPr/>
        </p:nvSpPr>
        <p:spPr>
          <a:xfrm>
            <a:off x="2020794" y="1095935"/>
            <a:ext cx="822900" cy="347400"/>
          </a:xfrm>
          <a:prstGeom prst="rect">
            <a:avLst/>
          </a:prstGeom>
          <a:solidFill>
            <a:srgbClr val="16A34A"/>
          </a:solidFill>
          <a:ln w="12700" cap="flat" cmpd="sng">
            <a:solidFill>
              <a:srgbClr val="16A3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8"/>
          <p:cNvSpPr/>
          <p:nvPr/>
        </p:nvSpPr>
        <p:spPr>
          <a:xfrm>
            <a:off x="2020794" y="1114223"/>
            <a:ext cx="8229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GB" sz="1000" b="1">
                <a:solidFill>
                  <a:srgbClr val="FFFFFF"/>
                </a:solidFill>
                <a:latin typeface="Calibri"/>
                <a:ea typeface="Calibri"/>
                <a:cs typeface="Calibri"/>
                <a:sym typeface="Calibri"/>
              </a:rPr>
              <a:t>{{bull_p}}</a:t>
            </a:r>
            <a:endParaRPr sz="1000" b="0" i="0" u="none" strike="noStrike" cap="none">
              <a:solidFill>
                <a:srgbClr val="000000"/>
              </a:solidFill>
              <a:latin typeface="Calibri"/>
              <a:ea typeface="Calibri"/>
              <a:cs typeface="Calibri"/>
              <a:sym typeface="Calibri"/>
            </a:endParaRPr>
          </a:p>
        </p:txBody>
      </p:sp>
      <p:sp>
        <p:nvSpPr>
          <p:cNvPr id="464" name="Google Shape;464;p28"/>
          <p:cNvSpPr/>
          <p:nvPr/>
        </p:nvSpPr>
        <p:spPr>
          <a:xfrm>
            <a:off x="301722" y="1562279"/>
            <a:ext cx="26517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A34A"/>
              </a:buClr>
              <a:buSzPts val="800"/>
              <a:buFont typeface="Calibri"/>
              <a:buNone/>
            </a:pPr>
            <a:r>
              <a:rPr lang="en-GB" sz="800" b="1" i="0" u="none" strike="noStrike" cap="none">
                <a:solidFill>
                  <a:srgbClr val="16A34A"/>
                </a:solidFill>
                <a:latin typeface="Calibri"/>
                <a:ea typeface="Calibri"/>
                <a:cs typeface="Calibri"/>
                <a:sym typeface="Calibri"/>
              </a:rPr>
              <a:t>Valuation: </a:t>
            </a:r>
            <a:r>
              <a:rPr lang="en-GB" sz="800" b="1">
                <a:solidFill>
                  <a:srgbClr val="16A34A"/>
                </a:solidFill>
                <a:latin typeface="Calibri"/>
                <a:ea typeface="Calibri"/>
                <a:cs typeface="Calibri"/>
                <a:sym typeface="Calibri"/>
              </a:rPr>
              <a:t>{{valuation_bull}}</a:t>
            </a:r>
            <a:endParaRPr sz="800" b="0" i="0" u="none" strike="noStrike" cap="none">
              <a:solidFill>
                <a:srgbClr val="000000"/>
              </a:solidFill>
              <a:latin typeface="Calibri"/>
              <a:ea typeface="Calibri"/>
              <a:cs typeface="Calibri"/>
              <a:sym typeface="Calibri"/>
            </a:endParaRPr>
          </a:p>
        </p:txBody>
      </p:sp>
      <p:cxnSp>
        <p:nvCxnSpPr>
          <p:cNvPr id="465" name="Google Shape;465;p28"/>
          <p:cNvCxnSpPr/>
          <p:nvPr/>
        </p:nvCxnSpPr>
        <p:spPr>
          <a:xfrm>
            <a:off x="301772" y="1793419"/>
            <a:ext cx="2651700" cy="0"/>
          </a:xfrm>
          <a:prstGeom prst="straightConnector1">
            <a:avLst/>
          </a:prstGeom>
          <a:noFill/>
          <a:ln w="9525" cap="flat" cmpd="sng">
            <a:solidFill>
              <a:srgbClr val="16A34A"/>
            </a:solidFill>
            <a:prstDash val="solid"/>
            <a:round/>
            <a:headEnd type="none" w="sm" len="sm"/>
            <a:tailEnd type="none" w="sm" len="sm"/>
          </a:ln>
        </p:spPr>
      </p:cxnSp>
      <p:sp>
        <p:nvSpPr>
          <p:cNvPr id="466" name="Google Shape;466;p28"/>
          <p:cNvSpPr/>
          <p:nvPr/>
        </p:nvSpPr>
        <p:spPr>
          <a:xfrm>
            <a:off x="301725" y="1882555"/>
            <a:ext cx="2651700" cy="1411800"/>
          </a:xfrm>
          <a:prstGeom prst="rect">
            <a:avLst/>
          </a:prstGeom>
          <a:noFill/>
          <a:ln>
            <a:noFill/>
          </a:ln>
        </p:spPr>
        <p:txBody>
          <a:bodyPr spcFirstLastPara="1" wrap="square" lIns="45700" tIns="45700" rIns="45700" bIns="45700" anchor="ctr" anchorCtr="0">
            <a:noAutofit/>
          </a:bodyPr>
          <a:lstStyle/>
          <a:p>
            <a:pPr marL="0" marR="0" lvl="0" indent="0" algn="just" rtl="0">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{{bull_content}}</a:t>
            </a:r>
            <a:endParaRPr sz="800" b="0" i="0" u="none" strike="noStrike" cap="none">
              <a:solidFill>
                <a:srgbClr val="000000"/>
              </a:solidFill>
              <a:latin typeface="Calibri"/>
              <a:ea typeface="Calibri"/>
              <a:cs typeface="Calibri"/>
              <a:sym typeface="Calibri"/>
            </a:endParaRPr>
          </a:p>
        </p:txBody>
      </p:sp>
      <p:sp>
        <p:nvSpPr>
          <p:cNvPr id="467" name="Google Shape;467;p28"/>
          <p:cNvSpPr/>
          <p:nvPr/>
        </p:nvSpPr>
        <p:spPr>
          <a:xfrm>
            <a:off x="3154650" y="638725"/>
            <a:ext cx="2834700" cy="2745300"/>
          </a:xfrm>
          <a:prstGeom prst="rect">
            <a:avLst/>
          </a:prstGeom>
          <a:solidFill>
            <a:srgbClr val="F4F6FB"/>
          </a:solidFill>
          <a:ln w="12700" cap="flat" cmpd="sng">
            <a:solidFill>
              <a:srgbClr val="1F4690"/>
            </a:solidFill>
            <a:prstDash val="solid"/>
            <a:round/>
            <a:headEnd type="none" w="sm" len="sm"/>
            <a:tailEnd type="none" w="sm" len="sm"/>
          </a:ln>
          <a:effectLst>
            <a:outerShdw blurRad="1016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8"/>
          <p:cNvSpPr/>
          <p:nvPr/>
        </p:nvSpPr>
        <p:spPr>
          <a:xfrm>
            <a:off x="3154650" y="638735"/>
            <a:ext cx="2834700" cy="384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8"/>
          <p:cNvSpPr/>
          <p:nvPr/>
        </p:nvSpPr>
        <p:spPr>
          <a:xfrm>
            <a:off x="3227802" y="657023"/>
            <a:ext cx="26883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GB" sz="1200" b="1" i="0" u="none" strike="noStrike" cap="none">
                <a:solidFill>
                  <a:srgbClr val="FFFFFF"/>
                </a:solidFill>
                <a:latin typeface="Calibri"/>
                <a:ea typeface="Calibri"/>
                <a:cs typeface="Calibri"/>
                <a:sym typeface="Calibri"/>
              </a:rPr>
              <a:t>BASE CASE</a:t>
            </a:r>
            <a:endParaRPr sz="1200" b="0" i="0" u="none" strike="noStrike" cap="none">
              <a:solidFill>
                <a:srgbClr val="000000"/>
              </a:solidFill>
              <a:latin typeface="Calibri"/>
              <a:ea typeface="Calibri"/>
              <a:cs typeface="Calibri"/>
              <a:sym typeface="Calibri"/>
            </a:endParaRPr>
          </a:p>
        </p:txBody>
      </p:sp>
      <p:sp>
        <p:nvSpPr>
          <p:cNvPr id="470" name="Google Shape;470;p28"/>
          <p:cNvSpPr/>
          <p:nvPr/>
        </p:nvSpPr>
        <p:spPr>
          <a:xfrm>
            <a:off x="3246090" y="1050215"/>
            <a:ext cx="1645800" cy="475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2400"/>
              <a:buFont typeface="Calibri"/>
              <a:buNone/>
            </a:pPr>
            <a:r>
              <a:rPr lang="en-GB" sz="2200" b="1">
                <a:solidFill>
                  <a:srgbClr val="1F4690"/>
                </a:solidFill>
                <a:latin typeface="Calibri"/>
                <a:ea typeface="Calibri"/>
                <a:cs typeface="Calibri"/>
                <a:sym typeface="Calibri"/>
              </a:rPr>
              <a:t>{{base}}</a:t>
            </a:r>
            <a:endParaRPr sz="2200" b="0" i="0" u="none" strike="noStrike" cap="none">
              <a:solidFill>
                <a:srgbClr val="000000"/>
              </a:solidFill>
              <a:latin typeface="Calibri"/>
              <a:ea typeface="Calibri"/>
              <a:cs typeface="Calibri"/>
              <a:sym typeface="Calibri"/>
            </a:endParaRPr>
          </a:p>
        </p:txBody>
      </p:sp>
      <p:sp>
        <p:nvSpPr>
          <p:cNvPr id="471" name="Google Shape;471;p28"/>
          <p:cNvSpPr/>
          <p:nvPr/>
        </p:nvSpPr>
        <p:spPr>
          <a:xfrm>
            <a:off x="4965162" y="1095935"/>
            <a:ext cx="822900" cy="3474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8"/>
          <p:cNvSpPr/>
          <p:nvPr/>
        </p:nvSpPr>
        <p:spPr>
          <a:xfrm>
            <a:off x="4965162" y="1114223"/>
            <a:ext cx="8229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GB" sz="1000" b="1">
                <a:solidFill>
                  <a:srgbClr val="FFFFFF"/>
                </a:solidFill>
                <a:latin typeface="Calibri"/>
                <a:ea typeface="Calibri"/>
                <a:cs typeface="Calibri"/>
                <a:sym typeface="Calibri"/>
              </a:rPr>
              <a:t>{{base_p}}</a:t>
            </a:r>
            <a:endParaRPr sz="1000" b="0" i="0" u="none" strike="noStrike" cap="none">
              <a:solidFill>
                <a:srgbClr val="000000"/>
              </a:solidFill>
              <a:latin typeface="Calibri"/>
              <a:ea typeface="Calibri"/>
              <a:cs typeface="Calibri"/>
              <a:sym typeface="Calibri"/>
            </a:endParaRPr>
          </a:p>
        </p:txBody>
      </p:sp>
      <p:sp>
        <p:nvSpPr>
          <p:cNvPr id="473" name="Google Shape;473;p28"/>
          <p:cNvSpPr/>
          <p:nvPr/>
        </p:nvSpPr>
        <p:spPr>
          <a:xfrm>
            <a:off x="3246090" y="1562279"/>
            <a:ext cx="26517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4690"/>
              </a:buClr>
              <a:buSzPts val="800"/>
              <a:buFont typeface="Calibri"/>
              <a:buNone/>
            </a:pPr>
            <a:r>
              <a:rPr lang="en-GB" sz="800" b="1">
                <a:solidFill>
                  <a:srgbClr val="1F4690"/>
                </a:solidFill>
                <a:latin typeface="Calibri"/>
                <a:ea typeface="Calibri"/>
                <a:cs typeface="Calibri"/>
                <a:sym typeface="Calibri"/>
              </a:rPr>
              <a:t>Valuation: {{valuation_base}}</a:t>
            </a:r>
            <a:endParaRPr sz="800" b="1">
              <a:solidFill>
                <a:srgbClr val="1F4690"/>
              </a:solidFill>
              <a:latin typeface="Calibri"/>
              <a:ea typeface="Calibri"/>
              <a:cs typeface="Calibri"/>
              <a:sym typeface="Calibri"/>
            </a:endParaRPr>
          </a:p>
        </p:txBody>
      </p:sp>
      <p:cxnSp>
        <p:nvCxnSpPr>
          <p:cNvPr id="474" name="Google Shape;474;p28"/>
          <p:cNvCxnSpPr/>
          <p:nvPr/>
        </p:nvCxnSpPr>
        <p:spPr>
          <a:xfrm>
            <a:off x="3246140" y="1806119"/>
            <a:ext cx="2651700" cy="0"/>
          </a:xfrm>
          <a:prstGeom prst="straightConnector1">
            <a:avLst/>
          </a:prstGeom>
          <a:noFill/>
          <a:ln w="9525" cap="flat" cmpd="sng">
            <a:solidFill>
              <a:srgbClr val="1F4690"/>
            </a:solidFill>
            <a:prstDash val="solid"/>
            <a:round/>
            <a:headEnd type="none" w="sm" len="sm"/>
            <a:tailEnd type="none" w="sm" len="sm"/>
          </a:ln>
        </p:spPr>
      </p:cxnSp>
      <p:sp>
        <p:nvSpPr>
          <p:cNvPr id="475" name="Google Shape;475;p28"/>
          <p:cNvSpPr/>
          <p:nvPr/>
        </p:nvSpPr>
        <p:spPr>
          <a:xfrm>
            <a:off x="6099025" y="638725"/>
            <a:ext cx="2834700" cy="2745300"/>
          </a:xfrm>
          <a:prstGeom prst="rect">
            <a:avLst/>
          </a:prstGeom>
          <a:solidFill>
            <a:srgbClr val="FEE2E2"/>
          </a:solidFill>
          <a:ln w="12700" cap="flat" cmpd="sng">
            <a:solidFill>
              <a:srgbClr val="DC2626"/>
            </a:solidFill>
            <a:prstDash val="solid"/>
            <a:round/>
            <a:headEnd type="none" w="sm" len="sm"/>
            <a:tailEnd type="none" w="sm" len="sm"/>
          </a:ln>
          <a:effectLst>
            <a:outerShdw blurRad="1016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8"/>
          <p:cNvSpPr/>
          <p:nvPr/>
        </p:nvSpPr>
        <p:spPr>
          <a:xfrm>
            <a:off x="6099018" y="638735"/>
            <a:ext cx="2834700" cy="38400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8"/>
          <p:cNvSpPr/>
          <p:nvPr/>
        </p:nvSpPr>
        <p:spPr>
          <a:xfrm>
            <a:off x="6172170" y="657023"/>
            <a:ext cx="26883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GB" sz="1200" b="1" i="0" u="none" strike="noStrike" cap="none">
                <a:solidFill>
                  <a:srgbClr val="FFFFFF"/>
                </a:solidFill>
                <a:latin typeface="Calibri"/>
                <a:ea typeface="Calibri"/>
                <a:cs typeface="Calibri"/>
                <a:sym typeface="Calibri"/>
              </a:rPr>
              <a:t>BEAR CASE</a:t>
            </a:r>
            <a:endParaRPr sz="1200" b="0" i="0" u="none" strike="noStrike" cap="none">
              <a:solidFill>
                <a:srgbClr val="000000"/>
              </a:solidFill>
              <a:latin typeface="Calibri"/>
              <a:ea typeface="Calibri"/>
              <a:cs typeface="Calibri"/>
              <a:sym typeface="Calibri"/>
            </a:endParaRPr>
          </a:p>
        </p:txBody>
      </p:sp>
      <p:sp>
        <p:nvSpPr>
          <p:cNvPr id="478" name="Google Shape;478;p28"/>
          <p:cNvSpPr/>
          <p:nvPr/>
        </p:nvSpPr>
        <p:spPr>
          <a:xfrm>
            <a:off x="6190458" y="1050215"/>
            <a:ext cx="1645800" cy="475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C2626"/>
              </a:buClr>
              <a:buSzPts val="2400"/>
              <a:buFont typeface="Calibri"/>
              <a:buNone/>
            </a:pPr>
            <a:r>
              <a:rPr lang="en-GB" sz="2200" b="1">
                <a:solidFill>
                  <a:srgbClr val="DC2626"/>
                </a:solidFill>
                <a:latin typeface="Calibri"/>
                <a:ea typeface="Calibri"/>
                <a:cs typeface="Calibri"/>
                <a:sym typeface="Calibri"/>
              </a:rPr>
              <a:t>{{bear}}</a:t>
            </a:r>
            <a:endParaRPr sz="2200" b="0" i="0" u="none" strike="noStrike" cap="none">
              <a:solidFill>
                <a:srgbClr val="000000"/>
              </a:solidFill>
              <a:latin typeface="Calibri"/>
              <a:ea typeface="Calibri"/>
              <a:cs typeface="Calibri"/>
              <a:sym typeface="Calibri"/>
            </a:endParaRPr>
          </a:p>
        </p:txBody>
      </p:sp>
      <p:sp>
        <p:nvSpPr>
          <p:cNvPr id="479" name="Google Shape;479;p28"/>
          <p:cNvSpPr/>
          <p:nvPr/>
        </p:nvSpPr>
        <p:spPr>
          <a:xfrm>
            <a:off x="7909530" y="1095935"/>
            <a:ext cx="822900" cy="347400"/>
          </a:xfrm>
          <a:prstGeom prst="rect">
            <a:avLst/>
          </a:prstGeom>
          <a:solidFill>
            <a:srgbClr val="DC2626"/>
          </a:solidFill>
          <a:ln w="12700" cap="flat" cmpd="sng">
            <a:solidFill>
              <a:srgbClr val="DC262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8"/>
          <p:cNvSpPr/>
          <p:nvPr/>
        </p:nvSpPr>
        <p:spPr>
          <a:xfrm>
            <a:off x="7909530" y="1114223"/>
            <a:ext cx="8229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GB" sz="1000" b="1">
                <a:solidFill>
                  <a:srgbClr val="FFFFFF"/>
                </a:solidFill>
                <a:latin typeface="Calibri"/>
                <a:ea typeface="Calibri"/>
                <a:cs typeface="Calibri"/>
                <a:sym typeface="Calibri"/>
              </a:rPr>
              <a:t>{{bear_p}}</a:t>
            </a:r>
            <a:endParaRPr sz="1000" b="0" i="0" u="none" strike="noStrike" cap="none">
              <a:solidFill>
                <a:srgbClr val="000000"/>
              </a:solidFill>
              <a:latin typeface="Calibri"/>
              <a:ea typeface="Calibri"/>
              <a:cs typeface="Calibri"/>
              <a:sym typeface="Calibri"/>
            </a:endParaRPr>
          </a:p>
        </p:txBody>
      </p:sp>
      <p:sp>
        <p:nvSpPr>
          <p:cNvPr id="481" name="Google Shape;481;p28"/>
          <p:cNvSpPr/>
          <p:nvPr/>
        </p:nvSpPr>
        <p:spPr>
          <a:xfrm>
            <a:off x="6190458" y="1562279"/>
            <a:ext cx="26517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C2626"/>
              </a:buClr>
              <a:buSzPts val="800"/>
              <a:buFont typeface="Calibri"/>
              <a:buNone/>
            </a:pPr>
            <a:r>
              <a:rPr lang="en-GB" sz="800" b="1">
                <a:solidFill>
                  <a:srgbClr val="DC2626"/>
                </a:solidFill>
                <a:latin typeface="Calibri"/>
                <a:ea typeface="Calibri"/>
                <a:cs typeface="Calibri"/>
                <a:sym typeface="Calibri"/>
              </a:rPr>
              <a:t>Valuation: {{valuation_bear}}</a:t>
            </a:r>
            <a:endParaRPr sz="800" b="1">
              <a:solidFill>
                <a:srgbClr val="DC2626"/>
              </a:solidFill>
              <a:latin typeface="Calibri"/>
              <a:ea typeface="Calibri"/>
              <a:cs typeface="Calibri"/>
              <a:sym typeface="Calibri"/>
            </a:endParaRPr>
          </a:p>
        </p:txBody>
      </p:sp>
      <p:cxnSp>
        <p:nvCxnSpPr>
          <p:cNvPr id="482" name="Google Shape;482;p28"/>
          <p:cNvCxnSpPr/>
          <p:nvPr/>
        </p:nvCxnSpPr>
        <p:spPr>
          <a:xfrm>
            <a:off x="6190458" y="1818819"/>
            <a:ext cx="2651700" cy="0"/>
          </a:xfrm>
          <a:prstGeom prst="straightConnector1">
            <a:avLst/>
          </a:prstGeom>
          <a:noFill/>
          <a:ln w="9525" cap="flat" cmpd="sng">
            <a:solidFill>
              <a:srgbClr val="DC2626"/>
            </a:solidFill>
            <a:prstDash val="solid"/>
            <a:round/>
            <a:headEnd type="none" w="sm" len="sm"/>
            <a:tailEnd type="none" w="sm" len="sm"/>
          </a:ln>
        </p:spPr>
      </p:cxnSp>
      <p:sp>
        <p:nvSpPr>
          <p:cNvPr id="483" name="Google Shape;483;p28"/>
          <p:cNvSpPr/>
          <p:nvPr/>
        </p:nvSpPr>
        <p:spPr>
          <a:xfrm>
            <a:off x="3246150" y="1866980"/>
            <a:ext cx="2651700" cy="1427400"/>
          </a:xfrm>
          <a:prstGeom prst="rect">
            <a:avLst/>
          </a:prstGeom>
          <a:noFill/>
          <a:ln>
            <a:noFill/>
          </a:ln>
        </p:spPr>
        <p:txBody>
          <a:bodyPr spcFirstLastPara="1" wrap="square" lIns="45700" tIns="45700" rIns="45700" bIns="45700" anchor="ctr" anchorCtr="0">
            <a:noAutofit/>
          </a:bodyPr>
          <a:lstStyle/>
          <a:p>
            <a:pPr marL="0" marR="0" lvl="0" indent="0" algn="just" rtl="0">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{{base_content}}</a:t>
            </a:r>
            <a:endParaRPr sz="800" b="0" i="0" u="none" strike="noStrike" cap="none">
              <a:solidFill>
                <a:srgbClr val="000000"/>
              </a:solidFill>
              <a:latin typeface="Calibri"/>
              <a:ea typeface="Calibri"/>
              <a:cs typeface="Calibri"/>
              <a:sym typeface="Calibri"/>
            </a:endParaRPr>
          </a:p>
        </p:txBody>
      </p:sp>
      <p:sp>
        <p:nvSpPr>
          <p:cNvPr id="484" name="Google Shape;484;p28"/>
          <p:cNvSpPr/>
          <p:nvPr/>
        </p:nvSpPr>
        <p:spPr>
          <a:xfrm>
            <a:off x="6190575" y="1892380"/>
            <a:ext cx="2651700" cy="1411800"/>
          </a:xfrm>
          <a:prstGeom prst="rect">
            <a:avLst/>
          </a:prstGeom>
          <a:noFill/>
          <a:ln>
            <a:noFill/>
          </a:ln>
        </p:spPr>
        <p:txBody>
          <a:bodyPr spcFirstLastPara="1" wrap="square" lIns="45700" tIns="45700" rIns="45700" bIns="45700" anchor="ctr" anchorCtr="0">
            <a:noAutofit/>
          </a:bodyPr>
          <a:lstStyle/>
          <a:p>
            <a:pPr marL="0" marR="0" lvl="0" indent="0" algn="just" rtl="0">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{{bear_content}}</a:t>
            </a:r>
            <a:endParaRPr sz="800" b="0" i="0" u="none" strike="noStrike" cap="none">
              <a:solidFill>
                <a:srgbClr val="000000"/>
              </a:solidFill>
              <a:latin typeface="Calibri"/>
              <a:ea typeface="Calibri"/>
              <a:cs typeface="Calibri"/>
              <a:sym typeface="Calibri"/>
            </a:endParaRPr>
          </a:p>
        </p:txBody>
      </p:sp>
      <p:sp>
        <p:nvSpPr>
          <p:cNvPr id="485" name="Google Shape;485;p28"/>
          <p:cNvSpPr/>
          <p:nvPr/>
        </p:nvSpPr>
        <p:spPr>
          <a:xfrm>
            <a:off x="207425" y="3465325"/>
            <a:ext cx="8726400" cy="14118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{{probability_weight_table}}</a:t>
            </a:r>
            <a:endParaRPr sz="800"/>
          </a:p>
        </p:txBody>
      </p:sp>
      <p:sp>
        <p:nvSpPr>
          <p:cNvPr id="486" name="Google Shape;486;p28"/>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8"/>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488" name="Google Shape;488;p28"/>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17</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489" name="Google Shape;489;p28"/>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29"/>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Key Risks &amp; Thesis Invalidation Triggers</a:t>
            </a:r>
            <a:endParaRPr sz="1800"/>
          </a:p>
        </p:txBody>
      </p:sp>
      <p:sp>
        <p:nvSpPr>
          <p:cNvPr id="495" name="Google Shape;495;p29"/>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6" name="Google Shape;496;p29"/>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497" name="Google Shape;497;p29"/>
          <p:cNvSpPr/>
          <p:nvPr/>
        </p:nvSpPr>
        <p:spPr>
          <a:xfrm>
            <a:off x="80425" y="668875"/>
            <a:ext cx="8991600" cy="4194600"/>
          </a:xfrm>
          <a:prstGeom prst="rect">
            <a:avLst/>
          </a:prstGeom>
          <a:solidFill>
            <a:srgbClr val="D1D5D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t>{{key_risks_table}}</a:t>
            </a:r>
            <a:endParaRPr sz="800"/>
          </a:p>
        </p:txBody>
      </p:sp>
      <p:sp>
        <p:nvSpPr>
          <p:cNvPr id="498" name="Google Shape;498;p29"/>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9"/>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500" name="Google Shape;500;p29"/>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18</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501" name="Google Shape;501;p29"/>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30"/>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Entry, Review, &amp; Exit Investing Strategy</a:t>
            </a:r>
            <a:endParaRPr sz="1800" b="1">
              <a:solidFill>
                <a:schemeClr val="lt1"/>
              </a:solidFill>
              <a:latin typeface="Calibri"/>
              <a:ea typeface="Calibri"/>
              <a:cs typeface="Calibri"/>
              <a:sym typeface="Calibri"/>
            </a:endParaRPr>
          </a:p>
        </p:txBody>
      </p:sp>
      <p:sp>
        <p:nvSpPr>
          <p:cNvPr id="507" name="Google Shape;507;p30"/>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8" name="Google Shape;508;p30"/>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509" name="Google Shape;509;p30"/>
          <p:cNvSpPr/>
          <p:nvPr/>
        </p:nvSpPr>
        <p:spPr>
          <a:xfrm>
            <a:off x="210275" y="681709"/>
            <a:ext cx="2834700" cy="3837000"/>
          </a:xfrm>
          <a:prstGeom prst="rect">
            <a:avLst/>
          </a:prstGeom>
          <a:solidFill>
            <a:srgbClr val="F4F6FB"/>
          </a:solidFill>
          <a:ln w="12700" cap="flat" cmpd="sng">
            <a:solidFill>
              <a:srgbClr val="1F4690"/>
            </a:solidFill>
            <a:prstDash val="solid"/>
            <a:round/>
            <a:headEnd type="none" w="sm" len="sm"/>
            <a:tailEnd type="none" w="sm" len="sm"/>
          </a:ln>
          <a:effectLst>
            <a:outerShdw blurRad="1016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endParaRPr sz="800"/>
          </a:p>
        </p:txBody>
      </p:sp>
      <p:sp>
        <p:nvSpPr>
          <p:cNvPr id="510" name="Google Shape;510;p30"/>
          <p:cNvSpPr/>
          <p:nvPr/>
        </p:nvSpPr>
        <p:spPr>
          <a:xfrm>
            <a:off x="210282" y="682035"/>
            <a:ext cx="2834700" cy="3201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0"/>
          <p:cNvSpPr/>
          <p:nvPr/>
        </p:nvSpPr>
        <p:spPr>
          <a:xfrm>
            <a:off x="283434" y="700323"/>
            <a:ext cx="26883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GB" sz="1200" b="1" i="0" u="none" strike="noStrike" cap="none">
                <a:solidFill>
                  <a:srgbClr val="FFFFFF"/>
                </a:solidFill>
                <a:latin typeface="Calibri"/>
                <a:ea typeface="Calibri"/>
                <a:cs typeface="Calibri"/>
                <a:sym typeface="Calibri"/>
              </a:rPr>
              <a:t>ENTRY STRATEGY</a:t>
            </a:r>
            <a:endParaRPr sz="1200" b="1" i="0" u="none" strike="noStrike" cap="none">
              <a:solidFill>
                <a:srgbClr val="000000"/>
              </a:solidFill>
              <a:latin typeface="Calibri"/>
              <a:ea typeface="Calibri"/>
              <a:cs typeface="Calibri"/>
              <a:sym typeface="Calibri"/>
            </a:endParaRPr>
          </a:p>
        </p:txBody>
      </p:sp>
      <p:sp>
        <p:nvSpPr>
          <p:cNvPr id="512" name="Google Shape;512;p30"/>
          <p:cNvSpPr/>
          <p:nvPr/>
        </p:nvSpPr>
        <p:spPr>
          <a:xfrm>
            <a:off x="3132475" y="668325"/>
            <a:ext cx="2893500" cy="3850500"/>
          </a:xfrm>
          <a:prstGeom prst="rect">
            <a:avLst/>
          </a:prstGeom>
          <a:solidFill>
            <a:srgbClr val="F4F6FB"/>
          </a:solidFill>
          <a:ln w="12700" cap="flat" cmpd="sng">
            <a:solidFill>
              <a:srgbClr val="3A5BA0"/>
            </a:solidFill>
            <a:prstDash val="solid"/>
            <a:round/>
            <a:headEnd type="none" w="sm" len="sm"/>
            <a:tailEnd type="none" w="sm" len="sm"/>
          </a:ln>
          <a:effectLst>
            <a:outerShdw blurRad="1016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0"/>
          <p:cNvSpPr/>
          <p:nvPr/>
        </p:nvSpPr>
        <p:spPr>
          <a:xfrm>
            <a:off x="3132425" y="677375"/>
            <a:ext cx="2893500" cy="320100"/>
          </a:xfrm>
          <a:prstGeom prst="rect">
            <a:avLst/>
          </a:prstGeom>
          <a:solidFill>
            <a:srgbClr val="3A5BA0"/>
          </a:solidFill>
          <a:ln w="12700" cap="flat" cmpd="sng">
            <a:solidFill>
              <a:srgbClr val="3A5B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0"/>
          <p:cNvSpPr/>
          <p:nvPr/>
        </p:nvSpPr>
        <p:spPr>
          <a:xfrm>
            <a:off x="3191227" y="704973"/>
            <a:ext cx="26883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GB" sz="1200" b="1" i="0" u="none" strike="noStrike" cap="none">
                <a:solidFill>
                  <a:srgbClr val="FFFFFF"/>
                </a:solidFill>
                <a:latin typeface="Calibri"/>
                <a:ea typeface="Calibri"/>
                <a:cs typeface="Calibri"/>
                <a:sym typeface="Calibri"/>
              </a:rPr>
              <a:t>REVIEW CHECKPOINTS</a:t>
            </a:r>
            <a:endParaRPr sz="1200" b="1" i="0" u="none" strike="noStrike" cap="none">
              <a:solidFill>
                <a:srgbClr val="000000"/>
              </a:solidFill>
              <a:latin typeface="Calibri"/>
              <a:ea typeface="Calibri"/>
              <a:cs typeface="Calibri"/>
              <a:sym typeface="Calibri"/>
            </a:endParaRPr>
          </a:p>
        </p:txBody>
      </p:sp>
      <p:sp>
        <p:nvSpPr>
          <p:cNvPr id="515" name="Google Shape;515;p30"/>
          <p:cNvSpPr/>
          <p:nvPr/>
        </p:nvSpPr>
        <p:spPr>
          <a:xfrm>
            <a:off x="6099025" y="681709"/>
            <a:ext cx="2834700" cy="3837000"/>
          </a:xfrm>
          <a:prstGeom prst="rect">
            <a:avLst/>
          </a:prstGeom>
          <a:solidFill>
            <a:srgbClr val="F4F6FB"/>
          </a:solidFill>
          <a:ln w="12700" cap="flat" cmpd="sng">
            <a:solidFill>
              <a:srgbClr val="FFA500"/>
            </a:solidFill>
            <a:prstDash val="solid"/>
            <a:round/>
            <a:headEnd type="none" w="sm" len="sm"/>
            <a:tailEnd type="none" w="sm" len="sm"/>
          </a:ln>
          <a:effectLst>
            <a:outerShdw blurRad="1016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Clr>
                <a:schemeClr val="dk1"/>
              </a:buClr>
              <a:buFont typeface="Arial"/>
              <a:buNone/>
            </a:pPr>
            <a:endParaRPr sz="800">
              <a:solidFill>
                <a:schemeClr val="dk1"/>
              </a:solidFill>
            </a:endParaRPr>
          </a:p>
          <a:p>
            <a:pPr marL="0" lvl="0" indent="0" algn="l" rtl="0">
              <a:spcBef>
                <a:spcPts val="0"/>
              </a:spcBef>
              <a:spcAft>
                <a:spcPts val="0"/>
              </a:spcAft>
              <a:buNone/>
            </a:pPr>
            <a:endParaRPr/>
          </a:p>
        </p:txBody>
      </p:sp>
      <p:sp>
        <p:nvSpPr>
          <p:cNvPr id="516" name="Google Shape;516;p30"/>
          <p:cNvSpPr/>
          <p:nvPr/>
        </p:nvSpPr>
        <p:spPr>
          <a:xfrm>
            <a:off x="6099018" y="682035"/>
            <a:ext cx="2834700" cy="3201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0"/>
          <p:cNvSpPr/>
          <p:nvPr/>
        </p:nvSpPr>
        <p:spPr>
          <a:xfrm>
            <a:off x="6172170" y="700323"/>
            <a:ext cx="26883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GB" sz="1200" b="1" i="0" u="none" strike="noStrike" cap="none">
                <a:solidFill>
                  <a:srgbClr val="FFFFFF"/>
                </a:solidFill>
                <a:latin typeface="Calibri"/>
                <a:ea typeface="Calibri"/>
                <a:cs typeface="Calibri"/>
                <a:sym typeface="Calibri"/>
              </a:rPr>
              <a:t>EXIT STRATEGY</a:t>
            </a:r>
            <a:endParaRPr sz="1200" b="1" i="0" u="none" strike="noStrike" cap="none">
              <a:solidFill>
                <a:srgbClr val="000000"/>
              </a:solidFill>
              <a:latin typeface="Calibri"/>
              <a:ea typeface="Calibri"/>
              <a:cs typeface="Calibri"/>
              <a:sym typeface="Calibri"/>
            </a:endParaRPr>
          </a:p>
        </p:txBody>
      </p:sp>
      <p:sp>
        <p:nvSpPr>
          <p:cNvPr id="518" name="Google Shape;518;p30"/>
          <p:cNvSpPr/>
          <p:nvPr/>
        </p:nvSpPr>
        <p:spPr>
          <a:xfrm>
            <a:off x="210275" y="4602600"/>
            <a:ext cx="8723400" cy="2742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rgbClr val="FFA500"/>
              </a:buClr>
              <a:buSzPts val="800"/>
              <a:buFont typeface="Calibri"/>
              <a:buNone/>
            </a:pPr>
            <a:r>
              <a:rPr lang="en-GB" sz="1200" b="1">
                <a:solidFill>
                  <a:srgbClr val="FFA500"/>
                </a:solidFill>
                <a:latin typeface="Calibri"/>
                <a:ea typeface="Calibri"/>
                <a:cs typeface="Calibri"/>
                <a:sym typeface="Calibri"/>
              </a:rPr>
              <a:t>BUY @ ₹{{buy}}  |  Target: {{tar_pr}} |  Stop Loss: {{stp_loss}} |  Upside: {{up}}%  |  Downside Risk: {{down}}%  |  Risk/Reward: {{pnt}}x</a:t>
            </a:r>
            <a:endParaRPr sz="1200">
              <a:solidFill>
                <a:schemeClr val="dk1"/>
              </a:solidFill>
              <a:latin typeface="Calibri"/>
              <a:ea typeface="Calibri"/>
              <a:cs typeface="Calibri"/>
              <a:sym typeface="Calibri"/>
            </a:endParaRPr>
          </a:p>
        </p:txBody>
      </p:sp>
      <p:sp>
        <p:nvSpPr>
          <p:cNvPr id="519" name="Google Shape;519;p30"/>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0"/>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521" name="Google Shape;521;p30"/>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19</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522" name="Google Shape;522;p30"/>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
        <p:nvSpPr>
          <p:cNvPr id="523" name="Google Shape;523;p30"/>
          <p:cNvSpPr/>
          <p:nvPr/>
        </p:nvSpPr>
        <p:spPr>
          <a:xfrm>
            <a:off x="301725" y="1126319"/>
            <a:ext cx="2651700" cy="32991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{{entry_strategy}}</a:t>
            </a:r>
            <a:endParaRPr sz="800">
              <a:solidFill>
                <a:srgbClr val="0D1B3E"/>
              </a:solidFill>
              <a:latin typeface="Calibri"/>
              <a:ea typeface="Calibri"/>
              <a:cs typeface="Calibri"/>
              <a:sym typeface="Calibri"/>
            </a:endParaRPr>
          </a:p>
        </p:txBody>
      </p:sp>
      <p:sp>
        <p:nvSpPr>
          <p:cNvPr id="524" name="Google Shape;524;p30"/>
          <p:cNvSpPr/>
          <p:nvPr/>
        </p:nvSpPr>
        <p:spPr>
          <a:xfrm>
            <a:off x="3200375" y="1093125"/>
            <a:ext cx="2751600" cy="33324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{{review_strategy}}</a:t>
            </a:r>
            <a:endParaRPr sz="800">
              <a:solidFill>
                <a:srgbClr val="0D1B3E"/>
              </a:solidFill>
              <a:latin typeface="Calibri"/>
              <a:ea typeface="Calibri"/>
              <a:cs typeface="Calibri"/>
              <a:sym typeface="Calibri"/>
            </a:endParaRPr>
          </a:p>
        </p:txBody>
      </p:sp>
      <p:sp>
        <p:nvSpPr>
          <p:cNvPr id="525" name="Google Shape;525;p30"/>
          <p:cNvSpPr/>
          <p:nvPr/>
        </p:nvSpPr>
        <p:spPr>
          <a:xfrm>
            <a:off x="6168425" y="1093125"/>
            <a:ext cx="2688300" cy="3332400"/>
          </a:xfrm>
          <a:prstGeom prst="rect">
            <a:avLst/>
          </a:prstGeom>
          <a:noFill/>
          <a:ln>
            <a:noFill/>
          </a:ln>
        </p:spPr>
        <p:txBody>
          <a:bodyPr spcFirstLastPara="1" wrap="square" lIns="45700" tIns="45700" rIns="45700" bIns="45700" anchor="t" anchorCtr="0">
            <a:noAutofit/>
          </a:bodyPr>
          <a:lstStyle/>
          <a:p>
            <a:pPr marL="0" marR="0" lvl="0" indent="0" algn="just" rtl="0">
              <a:spcBef>
                <a:spcPts val="0"/>
              </a:spcBef>
              <a:spcAft>
                <a:spcPts val="0"/>
              </a:spcAft>
              <a:buClr>
                <a:srgbClr val="0D1B3E"/>
              </a:buClr>
              <a:buSzPts val="800"/>
              <a:buFont typeface="Calibri"/>
              <a:buNone/>
            </a:pPr>
            <a:r>
              <a:rPr lang="en-GB" sz="800">
                <a:solidFill>
                  <a:srgbClr val="0D1B3E"/>
                </a:solidFill>
                <a:latin typeface="Calibri"/>
                <a:ea typeface="Calibri"/>
                <a:cs typeface="Calibri"/>
                <a:sym typeface="Calibri"/>
              </a:rPr>
              <a:t>{{exit_strategy}}</a:t>
            </a:r>
            <a:endParaRPr sz="800">
              <a:solidFill>
                <a:srgbClr val="0D1B3E"/>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31"/>
          <p:cNvSpPr/>
          <p:nvPr/>
        </p:nvSpPr>
        <p:spPr>
          <a:xfrm>
            <a:off x="0" y="0"/>
            <a:ext cx="9144000" cy="5037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800" b="1">
                <a:solidFill>
                  <a:schemeClr val="lt1"/>
                </a:solidFill>
                <a:latin typeface="Calibri"/>
                <a:ea typeface="Calibri"/>
                <a:cs typeface="Calibri"/>
                <a:sym typeface="Calibri"/>
              </a:rPr>
              <a:t>Disclosure and Disclaimers</a:t>
            </a:r>
            <a:endParaRPr sz="1800"/>
          </a:p>
        </p:txBody>
      </p:sp>
      <p:sp>
        <p:nvSpPr>
          <p:cNvPr id="531" name="Google Shape;531;p31"/>
          <p:cNvSpPr/>
          <p:nvPr/>
        </p:nvSpPr>
        <p:spPr>
          <a:xfrm>
            <a:off x="0" y="503700"/>
            <a:ext cx="9144000" cy="51000"/>
          </a:xfrm>
          <a:prstGeom prst="rect">
            <a:avLst/>
          </a:prstGeom>
          <a:solidFill>
            <a:srgbClr val="FFA500"/>
          </a:solidFill>
          <a:ln w="12700" cap="flat" cmpd="sng">
            <a:solidFill>
              <a:srgbClr val="FFA5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2" name="Google Shape;532;p31"/>
          <p:cNvPicPr preferRelativeResize="0"/>
          <p:nvPr/>
        </p:nvPicPr>
        <p:blipFill rotWithShape="1">
          <a:blip r:embed="rId3">
            <a:alphaModFix/>
          </a:blip>
          <a:srcRect t="14027" b="13410"/>
          <a:stretch/>
        </p:blipFill>
        <p:spPr>
          <a:xfrm>
            <a:off x="7678400" y="78925"/>
            <a:ext cx="1393705" cy="340750"/>
          </a:xfrm>
          <a:prstGeom prst="rect">
            <a:avLst/>
          </a:prstGeom>
          <a:noFill/>
          <a:ln>
            <a:noFill/>
          </a:ln>
        </p:spPr>
      </p:pic>
      <p:sp>
        <p:nvSpPr>
          <p:cNvPr id="533" name="Google Shape;533;p31"/>
          <p:cNvSpPr/>
          <p:nvPr/>
        </p:nvSpPr>
        <p:spPr>
          <a:xfrm>
            <a:off x="256032" y="594360"/>
            <a:ext cx="8613600" cy="384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1"/>
          <p:cNvSpPr/>
          <p:nvPr/>
        </p:nvSpPr>
        <p:spPr>
          <a:xfrm>
            <a:off x="347472" y="621792"/>
            <a:ext cx="8412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850"/>
              <a:buFont typeface="Calibri"/>
              <a:buNone/>
            </a:pPr>
            <a:r>
              <a:rPr lang="en-GB" sz="850" b="0" i="0" u="none" strike="noStrike" cap="none">
                <a:solidFill>
                  <a:srgbClr val="FFFFFF"/>
                </a:solidFill>
                <a:latin typeface="Calibri"/>
                <a:ea typeface="Calibri"/>
                <a:cs typeface="Calibri"/>
                <a:sym typeface="Calibri"/>
              </a:rPr>
              <a:t>About Tikona Capital: SEBI-Registered Research Analyst | Reg. No. INH000009807 | Registered: June 13, 2022 | Services: Equity Research, Investment Advisory, Wealth Management</a:t>
            </a:r>
            <a:endParaRPr sz="850" b="0" i="0" u="none" strike="noStrike" cap="none">
              <a:solidFill>
                <a:srgbClr val="000000"/>
              </a:solidFill>
              <a:latin typeface="Calibri"/>
              <a:ea typeface="Calibri"/>
              <a:cs typeface="Calibri"/>
              <a:sym typeface="Calibri"/>
            </a:endParaRPr>
          </a:p>
        </p:txBody>
      </p:sp>
      <p:graphicFrame>
        <p:nvGraphicFramePr>
          <p:cNvPr id="535" name="Google Shape;535;p31"/>
          <p:cNvGraphicFramePr/>
          <p:nvPr/>
        </p:nvGraphicFramePr>
        <p:xfrm>
          <a:off x="256032" y="1005840"/>
          <a:ext cx="3000000" cy="3000000"/>
        </p:xfrm>
        <a:graphic>
          <a:graphicData uri="http://schemas.openxmlformats.org/drawingml/2006/table">
            <a:tbl>
              <a:tblPr>
                <a:noFill/>
                <a:tableStyleId>{0A701B65-9D87-4785-8E65-F748D9EA3CC9}</a:tableStyleId>
              </a:tblPr>
              <a:tblGrid>
                <a:gridCol w="404900">
                  <a:extLst>
                    <a:ext uri="{9D8B030D-6E8A-4147-A177-3AD203B41FA5}">
                      <a16:colId xmlns:a16="http://schemas.microsoft.com/office/drawing/2014/main" val="20000"/>
                    </a:ext>
                  </a:extLst>
                </a:gridCol>
                <a:gridCol w="8208750">
                  <a:extLst>
                    <a:ext uri="{9D8B030D-6E8A-4147-A177-3AD203B41FA5}">
                      <a16:colId xmlns:a16="http://schemas.microsoft.com/office/drawing/2014/main" val="20001"/>
                    </a:ext>
                  </a:extLst>
                </a:gridCol>
              </a:tblGrid>
              <a:tr h="289850">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1.</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Disciplinary History: No penalties / directions have been issued by SEBI under the SEBI Act or Regulations made thereunder. No pending material litigations, legal proceedings, or regulatory investigations.</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extLst>
                  <a:ext uri="{0D108BD9-81ED-4DB2-BD59-A6C34878D82A}">
                    <a16:rowId xmlns:a16="http://schemas.microsoft.com/office/drawing/2014/main" val="10000"/>
                  </a:ext>
                </a:extLst>
              </a:tr>
              <a:tr h="262225">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2.</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Associates: No associates as defined under SEBI (Research Analyst) Regulations.</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62225">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3.</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Financial Interest: Research Analyst may have financial interest or actual/beneficial ownership in securities recommended in personal portfolio. Details disclosed at time of recommendation.</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extLst>
                  <a:ext uri="{0D108BD9-81ED-4DB2-BD59-A6C34878D82A}">
                    <a16:rowId xmlns:a16="http://schemas.microsoft.com/office/drawing/2014/main" val="10002"/>
                  </a:ext>
                </a:extLst>
              </a:tr>
              <a:tr h="262225">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4.</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Conflicts of Interest: No actual or potential conflicts of interest arising from connection to or association with any issuer. Any conflict shall be disclosed to the client as and when it arises.</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89850">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5.</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Compensation Disclosure: Research Analyst, employees, or associates have NOT received any compensation from the subject company (Premier Energies Ltd.) in the past 12 months — for any purpose including investment banking, brokerage, merchant banking, products, or services.</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extLst>
                  <a:ext uri="{0D108BD9-81ED-4DB2-BD59-A6C34878D82A}">
                    <a16:rowId xmlns:a16="http://schemas.microsoft.com/office/drawing/2014/main" val="10004"/>
                  </a:ext>
                </a:extLst>
              </a:tr>
              <a:tr h="262225">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6.</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Public Offerings: Research Analyst has NOT managed or co-managed any public offering of the subject company in the past 12 months.</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89850">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7.</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Third-Party Benefits: Research Analyst, employees, or associates have NOT received any compensation or other benefits from the subject company or any third party in connection with this research report.</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extLst>
                  <a:ext uri="{0D108BD9-81ED-4DB2-BD59-A6C34878D82A}">
                    <a16:rowId xmlns:a16="http://schemas.microsoft.com/office/drawing/2014/main" val="10006"/>
                  </a:ext>
                </a:extLst>
              </a:tr>
              <a:tr h="262225">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8.</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Subject Company as Client: The subject company was NOT a client of Research Analyst during twelve months preceding the date of distribution of this research report.</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62225">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9.</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Officer/Director: Research Analyst, employees, or associates have NOT served as officer, director, or employee of the subject company.</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extLst>
                  <a:ext uri="{0D108BD9-81ED-4DB2-BD59-A6C34878D82A}">
                    <a16:rowId xmlns:a16="http://schemas.microsoft.com/office/drawing/2014/main" val="10008"/>
                  </a:ext>
                </a:extLst>
              </a:tr>
              <a:tr h="289850">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10.</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Investment Risk Warning: Registration granted by SEBI, membership of BASL, and certification from NISM in no way guarantee performance of the intermediary or provide any assurance of returns to investors. Investment in securities market are subject to market risks. Read all related documents carefully before investing.</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89850">
                <a:tc>
                  <a:txBody>
                    <a:bodyPr/>
                    <a:lstStyle/>
                    <a:p>
                      <a:pPr marL="0" marR="0" lvl="0" indent="0" algn="ctr" rtl="0">
                        <a:spcBef>
                          <a:spcPts val="0"/>
                        </a:spcBef>
                        <a:spcAft>
                          <a:spcPts val="0"/>
                        </a:spcAft>
                        <a:buClr>
                          <a:srgbClr val="1F4690"/>
                        </a:buClr>
                        <a:buSzPts val="750"/>
                        <a:buFont typeface="Calibri"/>
                        <a:buNone/>
                      </a:pPr>
                      <a:r>
                        <a:rPr lang="en-GB" sz="750" b="1" u="none" strike="noStrike" cap="none">
                          <a:solidFill>
                            <a:srgbClr val="1F4690"/>
                          </a:solidFill>
                        </a:rPr>
                        <a:t>11.</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tc>
                  <a:txBody>
                    <a:bodyPr/>
                    <a:lstStyle/>
                    <a:p>
                      <a:pPr marL="0" marR="0" lvl="0" indent="0" algn="l" rtl="0">
                        <a:spcBef>
                          <a:spcPts val="0"/>
                        </a:spcBef>
                        <a:spcAft>
                          <a:spcPts val="0"/>
                        </a:spcAft>
                        <a:buClr>
                          <a:srgbClr val="0D1B3E"/>
                        </a:buClr>
                        <a:buSzPts val="750"/>
                        <a:buFont typeface="Calibri"/>
                        <a:buNone/>
                      </a:pPr>
                      <a:r>
                        <a:rPr lang="en-GB" sz="750" u="none" strike="noStrike" cap="none">
                          <a:solidFill>
                            <a:srgbClr val="0D1B3E"/>
                          </a:solidFill>
                        </a:rPr>
                        <a:t>Analyst Certification: The views expressed in this report accurately reflect the personal views of the research analyst(s) about the subject securities or issuer(s). No part of research analyst(s) compensation was, is, or will be, directly or indirectly related to the specific recommendations or views expressed herein.</a:t>
                      </a:r>
                      <a:endParaRPr sz="750" u="none" strike="noStrike" cap="none"/>
                    </a:p>
                  </a:txBody>
                  <a:tcPr marL="91450" marR="91450" marT="45725" marB="45725">
                    <a:lnL w="9525" cap="flat" cmpd="sng">
                      <a:solidFill>
                        <a:srgbClr val="D1D5DB"/>
                      </a:solidFill>
                      <a:prstDash val="solid"/>
                      <a:round/>
                      <a:headEnd type="none" w="sm" len="sm"/>
                      <a:tailEnd type="none" w="sm" len="sm"/>
                    </a:lnL>
                    <a:lnR w="9525" cap="flat" cmpd="sng">
                      <a:solidFill>
                        <a:srgbClr val="D1D5DB"/>
                      </a:solidFill>
                      <a:prstDash val="solid"/>
                      <a:round/>
                      <a:headEnd type="none" w="sm" len="sm"/>
                      <a:tailEnd type="none" w="sm" len="sm"/>
                    </a:lnR>
                    <a:lnT w="9525" cap="flat" cmpd="sng">
                      <a:solidFill>
                        <a:srgbClr val="D1D5DB"/>
                      </a:solidFill>
                      <a:prstDash val="solid"/>
                      <a:round/>
                      <a:headEnd type="none" w="sm" len="sm"/>
                      <a:tailEnd type="none" w="sm" len="sm"/>
                    </a:lnT>
                    <a:lnB w="9525" cap="flat" cmpd="sng">
                      <a:solidFill>
                        <a:srgbClr val="D1D5DB"/>
                      </a:solidFill>
                      <a:prstDash val="solid"/>
                      <a:round/>
                      <a:headEnd type="none" w="sm" len="sm"/>
                      <a:tailEnd type="none" w="sm" len="sm"/>
                    </a:lnB>
                    <a:solidFill>
                      <a:srgbClr val="EDF2FF"/>
                    </a:solidFill>
                  </a:tcPr>
                </a:tc>
                <a:extLst>
                  <a:ext uri="{0D108BD9-81ED-4DB2-BD59-A6C34878D82A}">
                    <a16:rowId xmlns:a16="http://schemas.microsoft.com/office/drawing/2014/main" val="10010"/>
                  </a:ext>
                </a:extLst>
              </a:tr>
            </a:tbl>
          </a:graphicData>
        </a:graphic>
      </p:graphicFrame>
      <p:sp>
        <p:nvSpPr>
          <p:cNvPr id="536" name="Google Shape;536;p31"/>
          <p:cNvSpPr/>
          <p:nvPr/>
        </p:nvSpPr>
        <p:spPr>
          <a:xfrm>
            <a:off x="256032" y="4727448"/>
            <a:ext cx="8613600" cy="201300"/>
          </a:xfrm>
          <a:prstGeom prst="rect">
            <a:avLst/>
          </a:prstGeom>
          <a:solidFill>
            <a:srgbClr val="0D1B3E"/>
          </a:solidFill>
          <a:ln w="12700" cap="flat" cmpd="sng">
            <a:solidFill>
              <a:srgbClr val="0D1B3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1"/>
          <p:cNvSpPr/>
          <p:nvPr/>
        </p:nvSpPr>
        <p:spPr>
          <a:xfrm>
            <a:off x="347472" y="4736592"/>
            <a:ext cx="8430900" cy="183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8EE"/>
              </a:buClr>
              <a:buSzPts val="700"/>
              <a:buFont typeface="Calibri"/>
              <a:buNone/>
            </a:pPr>
            <a:r>
              <a:rPr lang="en-GB" sz="700" b="0" i="0" u="none" strike="noStrike" cap="none">
                <a:solidFill>
                  <a:srgbClr val="FFF8EE"/>
                </a:solidFill>
                <a:latin typeface="Calibri"/>
                <a:ea typeface="Calibri"/>
                <a:cs typeface="Calibri"/>
                <a:sym typeface="Calibri"/>
              </a:rPr>
              <a:t>© 2025 Tikona Capital. | All Rights Reserved | This report is for client use only and may not be redistributed without written consent.</a:t>
            </a:r>
            <a:endParaRPr sz="700" b="0" i="0" u="none" strike="noStrike" cap="none">
              <a:solidFill>
                <a:srgbClr val="000000"/>
              </a:solidFill>
              <a:latin typeface="Calibri"/>
              <a:ea typeface="Calibri"/>
              <a:cs typeface="Calibri"/>
              <a:sym typeface="Calibri"/>
            </a:endParaRPr>
          </a:p>
        </p:txBody>
      </p:sp>
      <p:pic>
        <p:nvPicPr>
          <p:cNvPr id="538" name="Google Shape;538;p31" descr="A picture containing text, whiteboard&#10;&#10;Description automatically generated"/>
          <p:cNvPicPr preferRelativeResize="0"/>
          <p:nvPr/>
        </p:nvPicPr>
        <p:blipFill rotWithShape="1">
          <a:blip r:embed="rId4">
            <a:alphaModFix/>
          </a:blip>
          <a:srcRect/>
          <a:stretch/>
        </p:blipFill>
        <p:spPr>
          <a:xfrm>
            <a:off x="7927191" y="4218038"/>
            <a:ext cx="855125" cy="491875"/>
          </a:xfrm>
          <a:prstGeom prst="rect">
            <a:avLst/>
          </a:prstGeom>
          <a:noFill/>
          <a:ln>
            <a:noFill/>
          </a:ln>
        </p:spPr>
      </p:pic>
      <p:sp>
        <p:nvSpPr>
          <p:cNvPr id="539" name="Google Shape;539;p31"/>
          <p:cNvSpPr/>
          <p:nvPr/>
        </p:nvSpPr>
        <p:spPr>
          <a:xfrm>
            <a:off x="0" y="4956048"/>
            <a:ext cx="9144000" cy="183000"/>
          </a:xfrm>
          <a:prstGeom prst="rect">
            <a:avLst/>
          </a:prstGeom>
          <a:solidFill>
            <a:srgbClr val="1F4690"/>
          </a:solidFill>
          <a:ln w="12700" cap="flat" cmpd="sng">
            <a:solidFill>
              <a:srgbClr val="1F46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1"/>
          <p:cNvSpPr/>
          <p:nvPr/>
        </p:nvSpPr>
        <p:spPr>
          <a:xfrm>
            <a:off x="182875" y="4956050"/>
            <a:ext cx="2102400" cy="183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TIKONA CAPITAL | </a:t>
            </a:r>
            <a:r>
              <a:rPr lang="en-GB" sz="800" b="0" i="0" u="none" strike="noStrike" cap="none">
                <a:solidFill>
                  <a:srgbClr val="FFFFFF"/>
                </a:solidFill>
                <a:latin typeface="Calibri"/>
                <a:ea typeface="Calibri"/>
                <a:cs typeface="Calibri"/>
                <a:sym typeface="Calibri"/>
              </a:rPr>
              <a:t>SEBI Reg. INH000009807                                                                                                                                                                                                                                                          </a:t>
            </a:r>
            <a:endParaRPr sz="800" b="0" i="0" u="none" strike="noStrike" cap="none">
              <a:solidFill>
                <a:srgbClr val="000000"/>
              </a:solidFill>
              <a:latin typeface="Calibri"/>
              <a:ea typeface="Calibri"/>
              <a:cs typeface="Calibri"/>
              <a:sym typeface="Calibri"/>
            </a:endParaRPr>
          </a:p>
        </p:txBody>
      </p:sp>
      <p:sp>
        <p:nvSpPr>
          <p:cNvPr id="541" name="Google Shape;541;p31"/>
          <p:cNvSpPr/>
          <p:nvPr/>
        </p:nvSpPr>
        <p:spPr>
          <a:xfrm>
            <a:off x="7955280" y="4956048"/>
            <a:ext cx="1005900" cy="1830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A500"/>
              </a:buClr>
              <a:buSzPts val="700"/>
              <a:buFont typeface="Calibri"/>
              <a:buNone/>
            </a:pPr>
            <a:r>
              <a:rPr lang="en-GB" sz="800" b="1">
                <a:solidFill>
                  <a:srgbClr val="FFA500"/>
                </a:solidFill>
                <a:latin typeface="Calibri"/>
                <a:ea typeface="Calibri"/>
                <a:cs typeface="Calibri"/>
                <a:sym typeface="Calibri"/>
              </a:rPr>
              <a:t>20</a:t>
            </a:r>
            <a:r>
              <a:rPr lang="en-GB" sz="800" b="1" i="0" u="none" strike="noStrike" cap="none">
                <a:solidFill>
                  <a:srgbClr val="FFA500"/>
                </a:solidFill>
                <a:latin typeface="Calibri"/>
                <a:ea typeface="Calibri"/>
                <a:cs typeface="Calibri"/>
                <a:sym typeface="Calibri"/>
              </a:rPr>
              <a:t>/ </a:t>
            </a:r>
            <a:r>
              <a:rPr lang="en-GB" sz="800" b="1">
                <a:solidFill>
                  <a:srgbClr val="FFA500"/>
                </a:solidFill>
                <a:latin typeface="Calibri"/>
                <a:ea typeface="Calibri"/>
                <a:cs typeface="Calibri"/>
                <a:sym typeface="Calibri"/>
              </a:rPr>
              <a:t>20</a:t>
            </a:r>
            <a:endParaRPr sz="800" b="0" i="0" u="none" strike="noStrike" cap="none">
              <a:solidFill>
                <a:srgbClr val="000000"/>
              </a:solidFill>
              <a:latin typeface="Calibri"/>
              <a:ea typeface="Calibri"/>
              <a:cs typeface="Calibri"/>
              <a:sym typeface="Calibri"/>
            </a:endParaRPr>
          </a:p>
        </p:txBody>
      </p:sp>
      <p:sp>
        <p:nvSpPr>
          <p:cNvPr id="542" name="Google Shape;542;p31"/>
          <p:cNvSpPr/>
          <p:nvPr/>
        </p:nvSpPr>
        <p:spPr>
          <a:xfrm>
            <a:off x="7431750" y="4960575"/>
            <a:ext cx="870900" cy="18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00"/>
              <a:buFont typeface="Calibri"/>
              <a:buNone/>
            </a:pPr>
            <a:r>
              <a:rPr lang="en-GB" sz="800">
                <a:solidFill>
                  <a:srgbClr val="FFFFFF"/>
                </a:solidFill>
                <a:latin typeface="Calibri"/>
                <a:ea typeface="Calibri"/>
                <a:cs typeface="Calibri"/>
                <a:sym typeface="Calibri"/>
              </a:rPr>
              <a:t>{{date}}</a:t>
            </a:r>
            <a:endParaRPr sz="800" b="0" i="0" u="none" strike="noStrike" cap="non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000000"/>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1686</Words>
  <Application>Microsoft Office PowerPoint</Application>
  <PresentationFormat>On-screen Show (16:9)</PresentationFormat>
  <Paragraphs>259</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Simple Light</vt:lpstr>
      <vt:lpstr>PowerPoint Presentation</vt:lpstr>
      <vt:lpstr>PowerPoint Presentation</vt:lpstr>
      <vt:lpstr>PowerPoint Presentation</vt:lpstr>
      <vt:lpstr>PowerPoint Presentation</vt:lpstr>
      <vt:lpstr>PowerPoint Presentation</vt:lpstr>
      <vt:lpstr> COMPANY OVERVIEW</vt:lpstr>
      <vt:lpstr>Company Timeline</vt:lpstr>
      <vt:lpstr>Business Model</vt:lpstr>
      <vt:lpstr>Competitive Advantage</vt:lpstr>
      <vt:lpstr>Growth Catalysts &amp; Timeline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Kishankumar Yadav</cp:lastModifiedBy>
  <cp:revision>1</cp:revision>
  <dcterms:modified xsi:type="dcterms:W3CDTF">2026-06-29T07:57:42Z</dcterms:modified>
</cp:coreProperties>
</file>